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6ab92f56fad4faf" /><Relationship Type="http://schemas.openxmlformats.org/officeDocument/2006/relationships/extended-properties" Target="/docProps/app.xml" Id="Rc8389f108e4f4603" /><Relationship Type="http://schemas.openxmlformats.org/officeDocument/2006/relationships/officeDocument" Target="/ppt/presentation.xml" Id="R92ef21b4a177484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c518d5ed5f4dc1"/>
  </p:sldMasterIdLst>
  <p:notesMasterIdLst>
    <p:notesMasterId xmlns:r="http://schemas.openxmlformats.org/officeDocument/2006/relationships" r:id="Ra10cee3494a14d6f"/>
  </p:notesMasterIdLst>
  <p:sldIdLst>
    <p:sldId xmlns:r="http://schemas.openxmlformats.org/officeDocument/2006/relationships" id="256" r:id="Rcbcb1223b2954999"/>
    <p:sldId xmlns:r="http://schemas.openxmlformats.org/officeDocument/2006/relationships" id="257" r:id="R226667e224bd4bc4"/>
    <p:sldId xmlns:r="http://schemas.openxmlformats.org/officeDocument/2006/relationships" id="258" r:id="Rd55005f1b98e4673"/>
    <p:sldId xmlns:r="http://schemas.openxmlformats.org/officeDocument/2006/relationships" id="259" r:id="R872e8ab1f9dc4eb3"/>
    <p:sldId xmlns:r="http://schemas.openxmlformats.org/officeDocument/2006/relationships" id="260" r:id="R0d7716ab9e714848"/>
    <p:sldId xmlns:r="http://schemas.openxmlformats.org/officeDocument/2006/relationships" id="261" r:id="Rb70f6993a054477f"/>
    <p:sldId xmlns:r="http://schemas.openxmlformats.org/officeDocument/2006/relationships" id="262" r:id="R24f2ba83359d4dc4"/>
    <p:sldId xmlns:r="http://schemas.openxmlformats.org/officeDocument/2006/relationships" id="263" r:id="Rb1ed859120534cf1"/>
    <p:sldId xmlns:r="http://schemas.openxmlformats.org/officeDocument/2006/relationships" id="264" r:id="R4962c3f4b352461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d78a54f49d047a9" /><Relationship Type="http://schemas.openxmlformats.org/officeDocument/2006/relationships/slideMaster" Target="/ppt/slideMasters/slideMaster1.xml" Id="R23c518d5ed5f4dc1" /><Relationship Type="http://schemas.openxmlformats.org/officeDocument/2006/relationships/notesMaster" Target="/ppt/notesMasters/notesMaster1.xml" Id="Ra10cee3494a14d6f" /><Relationship Type="http://schemas.openxmlformats.org/officeDocument/2006/relationships/presProps" Target="/ppt/presProps.xml" Id="R345462470a73432b" /><Relationship Type="http://schemas.openxmlformats.org/officeDocument/2006/relationships/tableStyles" Target="/ppt/tableStyles.xml" Id="Rb0ccaa3fc1114ea6" /><Relationship Type="http://schemas.openxmlformats.org/officeDocument/2006/relationships/slide" Target="/ppt/slides/slide1.xml" Id="Rcbcb1223b2954999" /><Relationship Type="http://schemas.openxmlformats.org/officeDocument/2006/relationships/slide" Target="/ppt/slides/slide2.xml" Id="R226667e224bd4bc4" /><Relationship Type="http://schemas.openxmlformats.org/officeDocument/2006/relationships/slide" Target="/ppt/slides/slide3.xml" Id="Rd55005f1b98e4673" /><Relationship Type="http://schemas.openxmlformats.org/officeDocument/2006/relationships/slide" Target="/ppt/slides/slide4.xml" Id="R872e8ab1f9dc4eb3" /><Relationship Type="http://schemas.openxmlformats.org/officeDocument/2006/relationships/slide" Target="/ppt/slides/slide5.xml" Id="R0d7716ab9e714848" /><Relationship Type="http://schemas.openxmlformats.org/officeDocument/2006/relationships/slide" Target="/ppt/slides/slide6.xml" Id="Rb70f6993a054477f" /><Relationship Type="http://schemas.openxmlformats.org/officeDocument/2006/relationships/slide" Target="/ppt/slides/slide7.xml" Id="R24f2ba83359d4dc4" /><Relationship Type="http://schemas.openxmlformats.org/officeDocument/2006/relationships/slide" Target="/ppt/slides/slide8.xml" Id="Rb1ed859120534cf1" /><Relationship Type="http://schemas.openxmlformats.org/officeDocument/2006/relationships/slide" Target="/ppt/slides/slide9.xml" Id="R4962c3f4b352461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8d107960f2e437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b0f015ebb74944" /><Relationship Type="http://schemas.openxmlformats.org/officeDocument/2006/relationships/notesMaster" Target="/ppt/notesMasters/notesMaster1.xml" Id="R3f88d4078a724a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b1b05408fb6419c" /><Relationship Type="http://schemas.openxmlformats.org/officeDocument/2006/relationships/notesMaster" Target="/ppt/notesMasters/notesMaster1.xml" Id="R31da3181ca6c43e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c3fb5dd88cc4fa4" /><Relationship Type="http://schemas.openxmlformats.org/officeDocument/2006/relationships/notesMaster" Target="/ppt/notesMasters/notesMaster1.xml" Id="R63b22163b17a406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901b57be00145de" /><Relationship Type="http://schemas.openxmlformats.org/officeDocument/2006/relationships/notesMaster" Target="/ppt/notesMasters/notesMaster1.xml" Id="R7784a1abb3a34fe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a32ad57b9614a1f" /><Relationship Type="http://schemas.openxmlformats.org/officeDocument/2006/relationships/notesMaster" Target="/ppt/notesMasters/notesMaster1.xml" Id="R14a672e049a94a6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de0ac7566d043a7" /><Relationship Type="http://schemas.openxmlformats.org/officeDocument/2006/relationships/notesMaster" Target="/ppt/notesMasters/notesMaster1.xml" Id="R7624f4a5811741e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619967bc02847c6" /><Relationship Type="http://schemas.openxmlformats.org/officeDocument/2006/relationships/notesMaster" Target="/ppt/notesMasters/notesMaster1.xml" Id="Raffab6a0b8114de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92753248a68485e" /><Relationship Type="http://schemas.openxmlformats.org/officeDocument/2006/relationships/notesMaster" Target="/ppt/notesMasters/notesMaster1.xml" Id="R9563905f14fc4a4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58ddf00d4a54a7d" /><Relationship Type="http://schemas.openxmlformats.org/officeDocument/2006/relationships/notesMaster" Target="/ppt/notesMasters/notesMaster1.xml" Id="R037e05ad41a14d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汇报最近完成的SF12冻结V8、PREC、独立理论和观测导频时间对齐变体。数据更新截至2026-10-05。时间对齐变体与论文式(17)即时方法存在明确差异，不能将变体称为原始论文第三种方法。</a:t>
            </a:r>
          </a:p>
          <a:p xmlns:a="http://schemas.openxmlformats.org/drawingml/2006/main">
            <a:r>
              <a:t>来源：D:\codex\Lora（SER performance of different estimation strategies）\senlora_symmetric_v8\PILOT_TIME_ALIGNED_VARIANT.md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物理SF=有效SF=12，4096点FFT，BW=Fs=125kHz，符号时长32.768ms。CR3对应Hamming(7,4)，16个7-symbol block，共112个payload符号。原生帧8前导+112数据为120T=3.93216s，导频方法234.25T=7.675904s。</a:t>
            </a:r>
          </a:p>
          <a:p xmlns:a="http://schemas.openxmlformats.org/drawingml/2006/main">
            <a:r>
              <a:t>信道AWGN，以及每包一个常数复增益的单位平均功率Rician，K=10dB。h=sqrt(K/(K+1))+sqrt(1/(2(K+1)))*(a+jb)，a,b独立标准高斯，K线性值10。噪声方差10^(-SNR/10)，不按瞬时衰落功率重新归一化。</a:t>
            </a:r>
          </a:p>
          <a:p xmlns:a="http://schemas.openxmlformats.org/drawingml/2006/main">
            <a:r>
              <a:t>轨道高度550km，载频868MHz，Track-A解析Doppler模型。每个离散位置独立生成、估计、解码。Case-SNR为Rician下Case1(-366s)/Case2(0s)，-30:1:-21dB，20个条件各1000包，共20000条配对记录。轨迹5点×AWGN/Rician各1000包，共10000条记录，Es/N0=15dB，对应采样SNR=-21.12359948dB。原生PREC/VP/Ideal冻结同包基线只读复用，重算变体及其离线Ideal。</a:t>
            </a:r>
          </a:p>
          <a:p xmlns:a="http://schemas.openxmlformats.org/drawingml/2006/main">
            <a:r>
              <a:t>VP d0=0.10bin，d1=0.80bin，所有位置使用相同冻结入口、同一参数和两遍流程。接收机不输入轨道、SNR、真值或目标SER，Ideal仅解码结束后离线对照。SER是最终硬物理符号错误数/112000。</a:t>
            </a:r>
          </a:p>
          <a:p xmlns:a="http://schemas.openxmlformats.org/drawingml/2006/main">
            <a:r>
              <a:t>来源：D:\codex\Lora（SER performance of different estimation strategies）\results\senlora_symmetric_v8\pilot_time_aligned_case_snr_rician\FOUR_CURVE_SUMMARY.csv</a:t>
            </a:r>
          </a:p>
          <a:p xmlns:a="http://schemas.openxmlformats.org/drawingml/2006/main">
            <a:r>
              <a:t>D:\codex\Lora（SER performance of different estimation strategies）\results\senlora_symmetric_v8\figure12_pilot_time_aligned\FOUR_CURVE_SUMMARY.csv</a:t>
            </a:r>
          </a:p>
          <a:p xmlns:a="http://schemas.openxmlformats.org/drawingml/2006/main">
            <a:r>
              <a:t>D:\codex\Lora（SER performance of different estimation strategies）\senlora_symmetric_v8\v8_frozen_receiver_manifest.json</a:t>
            </a:r>
          </a:p>
          <a:p xmlns:a="http://schemas.openxmlformats.org/drawingml/2006/main">
            <a:r>
              <a:t>D:\codex\Lora（SER performance of different estimation strategies）\src\exp1TrackAOrbit.m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Case1为-366s的低rate端。本页是Rician K=10dB，每点1000包。-21dB端VP=0.0313571428571429，PREC=0.029375，理论=0.0284643251770817，时间对齐变体=0.0726339285714286。VP与理论接近不意味着已证明等效。原生方法与导频方法帧长和开销不同。</a:t>
            </a:r>
          </a:p>
          <a:p xmlns:a="http://schemas.openxmlformats.org/drawingml/2006/main">
            <a:r>
              <a:t>V8从相同8前导构造Static/Dynamic模型，payload起点对齐后融合完整相位轨迹。第一遍补偿和Hamming解码，第二遍当前block残差CFO与合法Hamming码字联合ML，质量门仅影响后续block反馈。d0/d1固定，未增加轨道分支。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来源图像：D:\codex\Lora（SER performance of different estimation strategies）\results\senlora_symmetric_v8\pilot_time_aligned_case_snr_rician\CASE1_FOUR_CURVES.png</a:t>
            </a:r>
          </a:p>
          <a:p xmlns:a="http://schemas.openxmlformats.org/drawingml/2006/main">
            <a:r>
              <a:t>结果数据：D:\codex\Lora（SER performance of different estimation strategies）\results\senlora_symmetric_v8\figure12_pilot_time_aligned\FOUR_CURVE_SUMMARY.csv</a:t>
            </a:r>
          </a:p>
          <a:p xmlns:a="http://schemas.openxmlformats.org/drawingml/2006/main">
            <a:r>
              <a:t>本图保留原始实验点，没有重新拟合。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se2为0s的高rate端。-21dB端VP=0.0288660714285714，PREC=0.995089285714286，理论=0.0284643251770817，时间对齐变体=0.0649821428571429。PREC高rate端观测SER接近1，冻结VP明显降低错误。仍需预注册配对容差与独立统计，不能据一端接近理论宣称Formal通过。</a:t>
            </a:r>
          </a:p>
          <a:p xmlns:a="http://schemas.openxmlformats.org/drawingml/2006/main">
            <a:r>
              <a:t>数据来源：D:\codex\Lora（SER performance of different estimation strategies）\results\senlora_symmetric_v8\pilot_time_aligned_case_snr_rician\FOUR_CURVE_SUMMARY.csv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来源图像：D:\codex\Lora（SER performance of different estimation strategies）\results\senlora_symmetric_v8\pilot_time_aligned_case_snr_rician\CASE2_FOUR_CURVES.png</a:t>
            </a:r>
          </a:p>
          <a:p xmlns:a="http://schemas.openxmlformats.org/drawingml/2006/main">
            <a:r>
              <a:t>结果数据：D:\codex\Lora（SER performance of different estimation strategies）\results\senlora_symmetric_v8\figure12_pilot_time_aligned\FOUR_CURVE_SUMMARY.csv</a:t>
            </a:r>
          </a:p>
          <a:p xmlns:a="http://schemas.openxmlformats.org/drawingml/2006/main">
            <a:r>
              <a:t>本图保留原始实验点，没有重新拟合。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采样SNR=-21.1235994797dB，Es/N0=15dB，每点1000包。VP原始错数16/11/14/12/25，对应SER9.8214e-5至2.2321e-4。理论是未编码非相干FFT的总体期望1.503107436e-4，不是每批Monte Carlo观测的样本下界，也不是所有码辅助接收机的信息论下界。</a:t>
            </a:r>
          </a:p>
          <a:p xmlns:a="http://schemas.openxmlformats.org/drawingml/2006/main">
            <a:r>
              <a:t>误差条为点态95%完整包cluster bootstrap区间，20000次，分析种子2026100500+点号。VP和native Ideal共用重采样包索引，全局随机状态与原始噪声种子不变。所有点态VP区间包含理论，配对差异区间包含0。不是五点同时置信带，也不是等效性证明。</a:t>
            </a:r>
          </a:p>
          <a:p xmlns:a="http://schemas.openxmlformats.org/drawingml/2006/main">
            <a:r>
              <a:t>统计来源：D:\codex\Lora（SER performance of different estimation strategies）\results\senlora_symmetric_v8\figure12_awgn_uncertainty\AWGN_POINT_UNCERTAINTY.csv</a:t>
            </a:r>
          </a:p>
          <a:p xmlns:a="http://schemas.openxmlformats.org/drawingml/2006/main">
            <a:r>
              <a:t>D:\codex\Lora（SER performance of different estimation strategies）\senlora_symmetric_v8\AWGN_THEORY_SAMPLING_CHECK.md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来源图像：D:\codex\Lora（SER performance of different estimation strategies）\results\senlora_symmetric_v8\figure12_awgn_uncertainty\FIGURE12_AWGN_FOUR_CURVES_95CI.png</a:t>
            </a:r>
          </a:p>
          <a:p xmlns:a="http://schemas.openxmlformats.org/drawingml/2006/main">
            <a:r>
              <a:t>结果数据：D:\codex\Lora（SER performance of different estimation strategies）\results\senlora_symmetric_v8\figure12_pilot_time_aligned\FOUR_CURVE_SUMMARY.csv</a:t>
            </a:r>
          </a:p>
          <a:p xmlns:a="http://schemas.openxmlformats.org/drawingml/2006/main">
            <a:r>
              <a:t>本图保留原始实验点，没有重新拟合。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Rician为单位平均功率、每包平坦、K=10dB。五点轨迹VP SER依次0.0344821、0.03575、0.0339554、0.0312768、0.0381161。理论常数0.03096406913，时间对齐变体0.0703214至0.0864375，仍明显高于理论。这里没有给Rician添加未计算的置信区间，没有统计显著性或严格平直声明。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来源图像：D:\codex\Lora（SER performance of different estimation strategies）\results\senlora_symmetric_v8\figure12_pilot_time_aligned\FIGURE12_RICIAN_FOUR_CURVES.png</a:t>
            </a:r>
          </a:p>
          <a:p xmlns:a="http://schemas.openxmlformats.org/drawingml/2006/main">
            <a:r>
              <a:t>结果数据：D:\codex\Lora（SER performance of different estimation strategies）\results\senlora_symmetric_v8\figure12_pilot_time_aligned\FOUR_CURVE_SUMMARY.csv</a:t>
            </a:r>
          </a:p>
          <a:p xmlns:a="http://schemas.openxmlformats.org/drawingml/2006/main">
            <a:r>
              <a:t>本图保留原始实验点，没有重新拟合。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图中纵轴是log10(SER)，只是显示坐标变换，未调整任何错误计数。论文即时法是当前SF12/noLDRO PHY适配的式(17)方法，n_int=1，FFT16，并非完全复用论文原始PHY。新增时间对齐变体缓冲一个数据符号，以左右已接收导频在相对帧中心时刻插值CFO。首数据符号权重5/9，其余1/2，按模Fs最短圆弧插值；符号内部rate仍为0。隐式使用频率变化信息，明确标注usesDopplerRate=true、usesFuturePilot=true。</a:t>
            </a:r>
          </a:p>
          <a:p xmlns:a="http://schemas.openxmlformats.org/drawingml/2006/main">
            <a:r>
              <a:t>0s同包观测错数从3637降至90，约40.4倍。-366s从57增至91，提示收益并不覆盖所有位置。变体AWGN整体仍约为理论5.2至6.1倍，没有实现理论性能。原生帧120T，导频帧234.25T，等待右导频有额外延迟。</a:t>
            </a:r>
          </a:p>
          <a:p xmlns:a="http://schemas.openxmlformats.org/drawingml/2006/main">
            <a:r>
              <a:t>论文即时法来源：D:\codex\Lora（SER performance of different estimation strategies）\results\senlora_symmetric_v8\figure12_four_methods_nint1\FOUR_CURVE_SUMMARY.csv</a:t>
            </a:r>
          </a:p>
          <a:p xmlns:a="http://schemas.openxmlformats.org/drawingml/2006/main">
            <a:r>
              <a:t>变体来源：D:\codex\Lora（SER performance of different estimation strategies）\results\senlora_symmetric_v8\figure12_pilot_time_aligned\FOUR_CURVE_SUMMARY.csv</a:t>
            </a:r>
          </a:p>
          <a:p xmlns:a="http://schemas.openxmlformats.org/drawingml/2006/main">
            <a:r>
              <a:t>机制：D:\codex\Lora（SER performance of different estimation strategies）\senlora_symmetric_v8\PILOT_TIME_ALIGNED_VARIANT.md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AWGN，Es/N0=15dB，每点1000包，每包112数据符号。VP和native Ideal使用同一原生帧、同一payload/noise。Ideal仅接收机结束后使用真实样本相位离线补偿，没有把Ideal CFO传给VP。</a:t>
            </a:r>
          </a:p>
          <a:p xmlns:a="http://schemas.openxmlformats.org/drawingml/2006/main">
            <a:r>
              <a:t>VP错数16/11/14/12/25，Ideal错数16/13/12/12/23。总错误78/76，总SER1.392857e-4/1.357143e-4。理论每点预期16.83480328错。当前数据未提供超越理论或与Ideal等效的统计证据。</a:t>
            </a:r>
          </a:p>
          <a:p xmlns:a="http://schemas.openxmlformats.org/drawingml/2006/main">
            <a:r>
              <a:t>来源：D:\codex\Lora（SER performance of different estimation strategies）\results\senlora_symmetric_v8\figure12_awgn_uncertainty\AWGN_POINT_UNCERTAINTY.csv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当前VP在AWGN五点保持约10^-4量级，Rician五点约3e-2。时间对齐变体改善0s即时CFO滞后的尖峰，但整体仍高于当前独立理论，而且低rate端的实际错数有所增加。不能宣称严格平直、原论文完全复现或Formal验收通过。</a:t>
            </a:r>
          </a:p>
          <a:p xmlns:a="http://schemas.openxmlformats.org/drawingml/2006/main">
            <a:r>
              <a:t>本轮30个条件各1000包，共30000配对记录。原生PREC/VP/Ideal基线只读复用，未修改VP/PREC冻结参数。没有拟合、平滑、强制非零、强制排序或挑选种子。代码采用断点接续完成，所有ID1-1000恰好一次、接收机异常0，MATLAB偶发heap corruption根因仍未定位。</a:t>
            </a:r>
          </a:p>
          <a:p xmlns:a="http://schemas.openxmlformats.org/drawingml/2006/main">
            <a:r>
              <a:t>下一步建议先预注册Case2的V8-Ideal绝对SER容差，再决定是否使用第三组未见种子启动9000成对包Formal。Formal应使用成对包cluster bootstrap，并检查镜像和所有相邻点；不能把现有点态区间当作全轨等效证明。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来源图像：D:\codex\Lora（SER performance of different estimation strategies）\results\senlora_symmetric_v8\figure12_awgn_uncertainty\FIGURE12_AWGN_RICIAN_FOUR_CURVES_95CI.png</a:t>
            </a:r>
          </a:p>
          <a:p xmlns:a="http://schemas.openxmlformats.org/drawingml/2006/main">
            <a:r>
              <a:t>结果数据：D:\codex\Lora（SER performance of different estimation strategies）\results\senlora_symmetric_v8\figure12_pilot_time_aligned\FOUR_CURVE_SUMMARY.csv</a:t>
            </a:r>
          </a:p>
          <a:p xmlns:a="http://schemas.openxmlformats.org/drawingml/2006/main">
            <a:r>
              <a:t>本图保留原始实验点，没有重新拟合。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69a7ee243546f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a3fb56ebaf4f2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b31ba0dff64a4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fea479fad546e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b7e5f1e3ee4b9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d43e180e60449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BEC3238-6C50-474E-8814-F6A6A0DA6A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325D748-5B8A-4C6E-8583-17887D97DDA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13E28F8-9F45-4549-9255-1D393DF23D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4E9EA5C-12BF-45A4-824F-CF5A5DE44C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3DAD71C-3BBD-4383-8DC6-F36C29B10D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EECF041-4A22-4A4D-BC1B-80B946851D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9D473BE-0567-4B6C-8007-978217C3046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901AC88-FF06-4FD1-861F-C33B411CB0D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25B475F-5763-4CDB-9170-678C2747FB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FB46FB6-8B4A-4FCC-BD15-651F15C368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56fcf4b8504443d" /><Relationship Type="http://schemas.openxmlformats.org/officeDocument/2006/relationships/slideLayout" Target="/ppt/slideLayouts/slideLayout1.xml" Id="R4e68f9aab1c54668" /><Relationship Type="http://schemas.openxmlformats.org/officeDocument/2006/relationships/slideLayout" Target="/ppt/slideLayouts/slideLayout2.xml" Id="Rb0b23dbb83c44fc7" /><Relationship Type="http://schemas.openxmlformats.org/officeDocument/2006/relationships/slideLayout" Target="/ppt/slideLayouts/slideLayout3.xml" Id="R769b920fb1f24ce8" /><Relationship Type="http://schemas.openxmlformats.org/officeDocument/2006/relationships/slideLayout" Target="/ppt/slideLayouts/slideLayout4.xml" Id="R8c6efa02baa64242" /><Relationship Type="http://schemas.openxmlformats.org/officeDocument/2006/relationships/slideLayout" Target="/ppt/slideLayouts/slideLayout5.xml" Id="Rfdbd445df59c4bb2" /><Relationship Type="http://schemas.openxmlformats.org/officeDocument/2006/relationships/slideLayout" Target="/ppt/slideLayouts/slideLayout6.xml" Id="R0c2441caa0ae4b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68f9aab1c54668"/>
    <p:sldLayoutId xmlns:r="http://schemas.openxmlformats.org/officeDocument/2006/relationships" id="2147483650" r:id="Rb0b23dbb83c44fc7"/>
    <p:sldLayoutId xmlns:r="http://schemas.openxmlformats.org/officeDocument/2006/relationships" id="2147483651" r:id="R769b920fb1f24ce8"/>
    <p:sldLayoutId xmlns:r="http://schemas.openxmlformats.org/officeDocument/2006/relationships" id="2147483652" r:id="R8c6efa02baa64242"/>
    <p:sldLayoutId xmlns:r="http://schemas.openxmlformats.org/officeDocument/2006/relationships" id="2147483653" r:id="Rfdbd445df59c4bb2"/>
    <p:sldLayoutId xmlns:r="http://schemas.openxmlformats.org/officeDocument/2006/relationships" id="2147483654" r:id="R0c2441caa0ae4b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23f9cab0314cfd" /><Relationship Type="http://schemas.openxmlformats.org/officeDocument/2006/relationships/notesSlide" Target="/ppt/notesSlides/notesSlide1.xml" Id="R3591c32b369a45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5fbde2b85d41e3" /><Relationship Type="http://schemas.openxmlformats.org/officeDocument/2006/relationships/notesSlide" Target="/ppt/notesSlides/notesSlide2.xml" Id="R075f687d25c24fb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58973f1ca4400a" /><Relationship Type="http://schemas.openxmlformats.org/officeDocument/2006/relationships/image" Target="/ppt/media/image.png" Id="Re9f33d7e86dd427d" /><Relationship Type="http://schemas.openxmlformats.org/officeDocument/2006/relationships/notesSlide" Target="/ppt/notesSlides/notesSlide3.xml" Id="Rf0c9ba4d25f8431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41db36b6444a14" /><Relationship Type="http://schemas.openxmlformats.org/officeDocument/2006/relationships/image" Target="/ppt/media/image2.png" Id="R683c3643f20447da" /><Relationship Type="http://schemas.openxmlformats.org/officeDocument/2006/relationships/notesSlide" Target="/ppt/notesSlides/notesSlide4.xml" Id="R740885cb5f5e477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19c43a1a624fd1" /><Relationship Type="http://schemas.openxmlformats.org/officeDocument/2006/relationships/image" Target="/ppt/media/image3.png" Id="R953c66fe7ba947d4" /><Relationship Type="http://schemas.openxmlformats.org/officeDocument/2006/relationships/notesSlide" Target="/ppt/notesSlides/notesSlide5.xml" Id="Rede09bc62bed4d1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281344ae4a45a9" /><Relationship Type="http://schemas.openxmlformats.org/officeDocument/2006/relationships/image" Target="/ppt/media/image4.png" Id="R79c10f95d09442b8" /><Relationship Type="http://schemas.openxmlformats.org/officeDocument/2006/relationships/notesSlide" Target="/ppt/notesSlides/notesSlide6.xml" Id="Raa9e819f53a9478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c4338d0db5403e" /><Relationship Type="http://schemas.openxmlformats.org/officeDocument/2006/relationships/chart" Target="/ppt/slides/charts/chart1.xml" Id="R35f89c40136441cb" /><Relationship Type="http://schemas.openxmlformats.org/officeDocument/2006/relationships/notesSlide" Target="/ppt/notesSlides/notesSlide7.xml" Id="R3aaa05342d134d1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79803a87414883" /><Relationship Type="http://schemas.openxmlformats.org/officeDocument/2006/relationships/chart" Target="/ppt/slides/charts/chart2.xml" Id="Rb208303895db441d" /><Relationship Type="http://schemas.openxmlformats.org/officeDocument/2006/relationships/notesSlide" Target="/ppt/notesSlides/notesSlide8.xml" Id="Rf879dd9c749247b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5b5bba18204717" /><Relationship Type="http://schemas.openxmlformats.org/officeDocument/2006/relationships/image" Target="/ppt/media/image5.png" Id="R53e73b4e6cef4ef2" /><Relationship Type="http://schemas.openxmlformats.org/officeDocument/2006/relationships/notesSlide" Target="/ppt/notesSlides/notesSlide9.xml" Id="R28f56f11e1c14f29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论文即时法（PHY适配）</c:v>
          </c:tx>
          <c:spPr>
            <a:ln xmlns:a="http://schemas.openxmlformats.org/drawingml/2006/main" w="28575">
              <a:solidFill>
                <a:srgbClr val="A26928"/>
              </a:solidFill>
            </a:ln>
          </c:spPr>
          <c:marker>
            <c:symbol val="circle"/>
            <c:size val="8"/>
            <c:spPr>
              <a:solidFill xmlns:a="http://schemas.openxmlformats.org/drawingml/2006/main">
                <a:srgbClr val="A26928"/>
              </a:solidFill>
            </c:spPr>
          </c:marker>
          <c:cat>
            <c:numLit>
              <c:formatCode>General</c:formatCode>
              <c:ptCount val="5"/>
              <c:pt idx="0">
                <c:v>-366</c:v>
              </c:pt>
              <c:pt idx="1">
                <c:v>-274.5</c:v>
              </c:pt>
              <c:pt idx="2">
                <c:v>-183</c:v>
              </c:pt>
              <c:pt idx="3">
                <c:v>-91.5</c:v>
              </c:pt>
              <c:pt idx="4">
                <c:v>0</c:v>
              </c:pt>
            </c:numLit>
          </c:cat>
          <c:val>
            <c:numLit>
              <c:formatCode>0</c:formatCode>
              <c:ptCount val="5"/>
              <c:pt idx="0">
                <c:v>-3.2933431669976905</c:v>
              </c:pt>
              <c:pt idx="1">
                <c:v>-3.236304666027326</c:v>
              </c:pt>
              <c:pt idx="2">
                <c:v>-3.210368931932926</c:v>
              </c:pt>
              <c:pt idx="3">
                <c:v>-3.146128035678238</c:v>
              </c:pt>
              <c:pt idx="4">
                <c:v>-1.4884747216154695</c:v>
              </c:pt>
            </c:numLit>
          </c:val>
          <c:smooth val="0"/>
        </c:ser>
        <c:ser>
          <c:idx val="1"/>
          <c:order val="1"/>
          <c:tx>
            <c:v>时间对齐变体</c:v>
          </c:tx>
          <c:spPr>
            <a:ln xmlns:a="http://schemas.openxmlformats.org/drawingml/2006/main" w="28575">
              <a:solidFill>
                <a:srgbClr val="54832C"/>
              </a:solidFill>
            </a:ln>
          </c:spPr>
          <c:marker>
            <c:symbol val="square"/>
            <c:size val="8"/>
            <c:spPr>
              <a:solidFill xmlns:a="http://schemas.openxmlformats.org/drawingml/2006/main">
                <a:srgbClr val="54832C"/>
              </a:solidFill>
            </c:spPr>
          </c:marker>
          <c:cat>
            <c:numLit>
              <c:formatCode>General</c:formatCode>
              <c:ptCount val="5"/>
              <c:pt idx="0">
                <c:v>-366</c:v>
              </c:pt>
              <c:pt idx="1">
                <c:v>-274.5</c:v>
              </c:pt>
              <c:pt idx="2">
                <c:v>-183</c:v>
              </c:pt>
              <c:pt idx="3">
                <c:v>-91.5</c:v>
              </c:pt>
              <c:pt idx="4">
                <c:v>0</c:v>
              </c:pt>
            </c:numLit>
          </c:cat>
          <c:val>
            <c:numLit>
              <c:formatCode>0</c:formatCode>
              <c:ptCount val="5"/>
              <c:pt idx="0">
                <c:v>-3.090176630349088</c:v>
              </c:pt>
              <c:pt idx="1">
                <c:v>-3.066946789630613</c:v>
              </c:pt>
              <c:pt idx="2">
                <c:v>-3.040617850908264</c:v>
              </c:pt>
              <c:pt idx="3">
                <c:v>-3.104735350520013</c:v>
              </c:pt>
              <c:pt idx="4">
                <c:v>-3.0949755132308567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00">
                    <a:solidFill>
                      <a:srgbClr val="182B3A"/>
                    </a:solidFill>
                    <a:latin typeface="Microsoft YaHei"/>
                    <a:ea typeface="Microsoft YaHei"/>
                    <a:cs typeface="Microsoft YaHei"/>
                  </a:rPr>
                  <a:t>帧起点 t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182B3A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-1"/>
          <c:min val="-4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5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00">
                    <a:solidFill>
                      <a:srgbClr val="182B3A"/>
                    </a:solidFill>
                    <a:latin typeface="Microsoft YaHei"/>
                    <a:ea typeface="Microsoft YaHei"/>
                    <a:cs typeface="Microsoft YaHei"/>
                  </a:rPr>
                  <a:t>log₁₀(SER)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182B3A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>
              <a:solidFill>
                <a:srgbClr val="182B3A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VP V8</c:v>
          </c:tx>
          <c:spPr>
            <a:solidFill xmlns:a="http://schemas.openxmlformats.org/drawingml/2006/main">
              <a:srgbClr val="0072BD"/>
            </a:solidFill>
          </c:spPr>
          <c:cat>
            <c:numLit>
              <c:formatCode>General</c:formatCode>
              <c:ptCount val="5"/>
              <c:pt idx="0">
                <c:v>-366</c:v>
              </c:pt>
              <c:pt idx="1">
                <c:v>-274.5</c:v>
              </c:pt>
              <c:pt idx="2">
                <c:v>-183</c:v>
              </c:pt>
              <c:pt idx="3">
                <c:v>-91.5</c:v>
              </c:pt>
              <c:pt idx="4">
                <c:v>0</c:v>
              </c:pt>
            </c:numLit>
          </c:cat>
          <c:val>
            <c:numLit>
              <c:formatCode>0</c:formatCode>
              <c:ptCount val="5"/>
              <c:pt idx="0">
                <c:v>16</c:v>
              </c:pt>
              <c:pt idx="1">
                <c:v>11</c:v>
              </c:pt>
              <c:pt idx="2">
                <c:v>14</c:v>
              </c:pt>
              <c:pt idx="3">
                <c:v>12</c:v>
              </c:pt>
              <c:pt idx="4">
                <c:v>25</c:v>
              </c:pt>
            </c:numLit>
          </c:val>
        </c:ser>
        <c:ser>
          <c:idx val="1"/>
          <c:order val="1"/>
          <c:tx>
            <c:v>同包 Ideal</c:v>
          </c:tx>
          <c:spPr>
            <a:solidFill xmlns:a="http://schemas.openxmlformats.org/drawingml/2006/main">
              <a:srgbClr val="C37C2C"/>
            </a:solidFill>
          </c:spPr>
          <c:cat>
            <c:numLit>
              <c:formatCode>General</c:formatCode>
              <c:ptCount val="5"/>
              <c:pt idx="0">
                <c:v>-366</c:v>
              </c:pt>
              <c:pt idx="1">
                <c:v>-274.5</c:v>
              </c:pt>
              <c:pt idx="2">
                <c:v>-183</c:v>
              </c:pt>
              <c:pt idx="3">
                <c:v>-91.5</c:v>
              </c:pt>
              <c:pt idx="4">
                <c:v>0</c:v>
              </c:pt>
            </c:numLit>
          </c:cat>
          <c:val>
            <c:numLit>
              <c:formatCode>0</c:formatCode>
              <c:ptCount val="5"/>
              <c:pt idx="0">
                <c:v>16</c:v>
              </c:pt>
              <c:pt idx="1">
                <c:v>13</c:v>
              </c:pt>
              <c:pt idx="2">
                <c:v>12</c:v>
              </c:pt>
              <c:pt idx="3">
                <c:v>12</c:v>
              </c:pt>
              <c:pt idx="4">
                <c:v>23</c:v>
              </c:pt>
            </c:numLit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>
                  <a:solidFill>
                    <a:srgbClr val="182B3A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00">
                    <a:solidFill>
                      <a:srgbClr val="182B3A"/>
                    </a:solidFill>
                    <a:latin typeface="Microsoft YaHei"/>
                    <a:ea typeface="Microsoft YaHei"/>
                    <a:cs typeface="Microsoft YaHei"/>
                  </a:rPr>
                  <a:t>帧起点 t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182B3A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5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00">
                    <a:solidFill>
                      <a:srgbClr val="182B3A"/>
                    </a:solidFill>
                    <a:latin typeface="Microsoft YaHei"/>
                    <a:ea typeface="Microsoft YaHei"/>
                    <a:cs typeface="Microsoft YaHei"/>
                  </a:rPr>
                  <a:t>符号错误数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182B3A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>
              <a:solidFill>
                <a:srgbClr val="182B3A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65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36126F2C-7D0D-4966-929C-91D5EB6A9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08204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SenLoRa V8</a:t>
            </a:r>
          </a:p>
          <a:p xmlns:a="http://schemas.openxmlformats.org/drawingml/2006/main">
            <a:pPr>
              <a:def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轨道场景 SER 实验</a:t>
            </a:r>
          </a:p>
        </p:txBody>
      </p:sp>
      <p:sp>
        <p:nvSpPr>
          <p:cNvPr id="2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6DFFFB2E-A721-482F-9B49-75325EF15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DDEAF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DDEA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DDEAF1"/>
                </a:solidFill>
                <a:latin typeface="Microsoft YaHei"/>
                <a:ea typeface="Microsoft YaHei"/>
                <a:cs typeface="Microsoft YaHei"/>
              </a:rPr>
              <a:t>AWGN 与莱斯衰落下的估计补偿对比</a:t>
            </a:r>
          </a:p>
        </p:txBody>
      </p:sp>
      <p:sp>
        <p:nvSpPr>
          <p:cNvPr id="3" name="cover-date">
            <a:extLst xmlns:a="http://schemas.openxmlformats.org/drawingml/2006/main">
              <a:ext uri="{FF2B5EF4-FFF2-40B4-BE49-F238E27FC236}">
                <a16:creationId xmlns:a16="http://schemas.microsoft.com/office/drawing/2014/main" id="{BFF5097E-B2AC-4F96-A614-320F54F4E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7687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DDEAF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DDEA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DDEAF1"/>
                </a:solidFill>
                <a:latin typeface="Microsoft YaHei"/>
                <a:ea typeface="Microsoft YaHei"/>
                <a:cs typeface="Microsoft YaHei"/>
              </a:rPr>
              <a:t>组会汇报  2026.10.06</a:t>
            </a:r>
          </a:p>
        </p:txBody>
      </p:sp>
    </p:spTree>
    <p:extLst>
      <p:ext uri="{BB962C8B-B14F-4D97-AF65-F5344CB8AC3E}">
        <p14:creationId xmlns:p14="http://schemas.microsoft.com/office/powerpoint/2010/main" val="16381277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4CB7D69-7BB6-483D-8039-ECC147CF0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236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3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3650"/>
                </a:solidFill>
                <a:latin typeface="Microsoft YaHei"/>
                <a:ea typeface="Microsoft YaHei"/>
                <a:cs typeface="Microsoft YaHei"/>
              </a:rPr>
              <a:t>实验条件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20C542-2B3A-46D7-BDFA-06237A065F2F}"/>
              </a:ext>
            </a:extLst>
          </p:cNvPr>
          <p:cNvGraphicFramePr/>
          <p:nvPr/>
        </p:nvGraphicFramePr>
        <p:xfrm>
          <a:off xmlns:a="http://schemas.openxmlformats.org/drawingml/2006/main" x="533400" y="1333500"/>
          <a:ext xmlns:a="http://schemas.openxmlformats.org/drawingml/2006/main" cx="111252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66875"/>
                <a:gridCol w="3895725"/>
                <a:gridCol w="1666875"/>
                <a:gridCol w="3895725"/>
              </a:tblGrid>
              <a:tr h="6858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8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SF</a:t>
                      </a:r>
                    </a:p>
                  </a:txBody>
                  <a:tcPr marL="91440" marR="91440" marT="45720" marB="45720" anchor="ctr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8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BW / Fs</a:t>
                      </a:r>
                    </a:p>
                  </a:txBody>
                  <a:tcPr marL="91440" marR="91440" marT="45720" marB="45720" anchor="ctr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125 kHz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8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编码</a:t>
                      </a:r>
                    </a:p>
                  </a:txBody>
                  <a:tcPr marL="91440" marR="91440" marT="45720" marB="45720" anchor="ctr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CR3，Hamming(7,4)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8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原生帧</a:t>
                      </a:r>
                    </a:p>
                  </a:txBody>
                  <a:tcPr marL="91440" marR="91440" marT="45720" marB="45720" anchor="ctr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 前导 + 112 数据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8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信道</a:t>
                      </a:r>
                    </a:p>
                  </a:txBody>
                  <a:tcPr marL="91440" marR="91440" marT="45720" marB="45720" anchor="ctr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AWGN / Rician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8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</a:t>
                      </a:r>
                    </a:p>
                  </a:txBody>
                  <a:tcPr marL="91440" marR="91440" marT="45720" marB="45720" anchor="ctr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 dB，每包平坦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8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载频 / 高度</a:t>
                      </a:r>
                    </a:p>
                  </a:txBody>
                  <a:tcPr marL="91440" marR="91440" marT="45720" marB="45720" anchor="ctr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868 MHz / 550 km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8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每点包数</a:t>
                      </a:r>
                    </a:p>
                  </a:txBody>
                  <a:tcPr marL="91440" marR="91440" marT="45720" marB="45720" anchor="ctr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8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帧时长</a:t>
                      </a:r>
                    </a:p>
                  </a:txBody>
                  <a:tcPr marL="91440" marR="91440" marT="45720" marB="45720" anchor="ctr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3.932 s / 7.676 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8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统计口径</a:t>
                      </a:r>
                    </a:p>
                  </a:txBody>
                  <a:tcPr marL="91440" marR="91440" marT="45720" marB="45720" anchor="ctr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Raw SER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snr-grid">
            <a:extLst xmlns:a="http://schemas.openxmlformats.org/drawingml/2006/main">
              <a:ext uri="{FF2B5EF4-FFF2-40B4-BE49-F238E27FC236}">
                <a16:creationId xmlns:a16="http://schemas.microsoft.com/office/drawing/2014/main" id="{C68DC273-2947-4A30-8D1B-139614577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91125"/>
            <a:ext cx="11125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rPr>
              <a:t>SNR 扫描：−30 至 −21 dB，每 1 dB 一点</a:t>
            </a:r>
          </a:p>
        </p:txBody>
      </p:sp>
      <p:sp>
        <p:nvSpPr>
          <p:cNvPr id="4" name="orbit-grid">
            <a:extLst xmlns:a="http://schemas.openxmlformats.org/drawingml/2006/main">
              <a:ext uri="{FF2B5EF4-FFF2-40B4-BE49-F238E27FC236}">
                <a16:creationId xmlns:a16="http://schemas.microsoft.com/office/drawing/2014/main" id="{6B780188-DEB2-4B97-9826-AC142EC8F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72150"/>
            <a:ext cx="1112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rPr>
              <a:t>轨迹：−366、−274.5、−183、−91.5、0 s，Es/N0 = 15 dB</a:t>
            </a:r>
          </a:p>
        </p:txBody>
      </p:sp>
    </p:spTree>
    <p:extLst>
      <p:ext uri="{BB962C8B-B14F-4D97-AF65-F5344CB8AC3E}">
        <p14:creationId xmlns:p14="http://schemas.microsoft.com/office/powerpoint/2010/main" val="2335634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2527759-1E81-4B2B-8BE8-8221D1F4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236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3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3650"/>
                </a:solidFill>
                <a:latin typeface="Microsoft YaHei"/>
                <a:ea typeface="Microsoft YaHei"/>
                <a:cs typeface="Microsoft YaHei"/>
              </a:rPr>
              <a:t>Case1：Rician 信道 SER–SNR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B3DD4F-761E-4ED0-AF9B-0B2A2B2B7C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f33d7e86dd427d"/>
          <a:stretch xmlns:a="http://schemas.openxmlformats.org/drawingml/2006/main"/>
        </p:blipFill>
        <p:spPr>
          <a:xfrm xmlns:a="http://schemas.openxmlformats.org/drawingml/2006/main">
            <a:off x="926064" y="1095375"/>
            <a:ext cx="6577497" cy="5238750"/>
          </a:xfrm>
          <a:prstGeom xmlns:a="http://schemas.openxmlformats.org/drawingml/2006/main" prst="rect">
            <a:avLst/>
          </a:prstGeom>
        </p:spPr>
      </p:pic>
      <p:sp>
        <p:nvSpPr>
          <p:cNvPr id="3" name="case1-snr">
            <a:extLst xmlns:a="http://schemas.openxmlformats.org/drawingml/2006/main">
              <a:ext uri="{FF2B5EF4-FFF2-40B4-BE49-F238E27FC236}">
                <a16:creationId xmlns:a16="http://schemas.microsoft.com/office/drawing/2014/main" id="{CEF7BD2F-285D-4293-A9D6-B12BF254E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52625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5870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58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587080"/>
                </a:solidFill>
                <a:latin typeface="Microsoft YaHei"/>
                <a:ea typeface="Microsoft YaHei"/>
                <a:cs typeface="Microsoft YaHei"/>
              </a:rPr>
              <a:t>−21 dB</a:t>
            </a:r>
          </a:p>
        </p:txBody>
      </p:sp>
      <p:sp>
        <p:nvSpPr>
          <p:cNvPr id="4" name="case1-vp">
            <a:extLst xmlns:a="http://schemas.openxmlformats.org/drawingml/2006/main">
              <a:ext uri="{FF2B5EF4-FFF2-40B4-BE49-F238E27FC236}">
                <a16:creationId xmlns:a16="http://schemas.microsoft.com/office/drawing/2014/main" id="{356255AB-21C8-42F7-9312-96DE692AE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0072B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72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72BD"/>
                </a:solidFill>
                <a:latin typeface="Microsoft YaHei"/>
                <a:ea typeface="Microsoft YaHei"/>
                <a:cs typeface="Microsoft YaHei"/>
              </a:rPr>
              <a:t>VP  3.14×10⁻²</a:t>
            </a:r>
          </a:p>
        </p:txBody>
      </p:sp>
      <p:sp>
        <p:nvSpPr>
          <p:cNvPr id="5" name="case1-theory">
            <a:extLst xmlns:a="http://schemas.openxmlformats.org/drawingml/2006/main">
              <a:ext uri="{FF2B5EF4-FFF2-40B4-BE49-F238E27FC236}">
                <a16:creationId xmlns:a16="http://schemas.microsoft.com/office/drawing/2014/main" id="{47B1088E-5C63-4C46-B360-BCC660FF5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86125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rPr>
              <a:t>理论  2.85×10⁻²</a:t>
            </a:r>
          </a:p>
        </p:txBody>
      </p:sp>
      <p:sp>
        <p:nvSpPr>
          <p:cNvPr id="6" name="case1-samples">
            <a:extLst xmlns:a="http://schemas.openxmlformats.org/drawingml/2006/main">
              <a:ext uri="{FF2B5EF4-FFF2-40B4-BE49-F238E27FC236}">
                <a16:creationId xmlns:a16="http://schemas.microsoft.com/office/drawing/2014/main" id="{CE155017-4771-4F6A-8573-18343FA2A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476750"/>
            <a:ext cx="323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5870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8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87080"/>
                </a:solidFill>
                <a:latin typeface="Microsoft YaHei"/>
                <a:ea typeface="Microsoft YaHei"/>
                <a:cs typeface="Microsoft YaHei"/>
              </a:rPr>
              <a:t>1000 包/点</a:t>
            </a:r>
          </a:p>
          <a:p xmlns:a="http://schemas.openxmlformats.org/drawingml/2006/main">
            <a:pPr>
              <a:defRPr sz="1950" b="0">
                <a:solidFill>
                  <a:srgbClr val="58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87080"/>
                </a:solidFill>
                <a:latin typeface="Microsoft YaHei"/>
                <a:ea typeface="Microsoft YaHei"/>
                <a:cs typeface="Microsoft YaHei"/>
              </a:rPr>
              <a:t>Rician K = 10 dB</a:t>
            </a:r>
          </a:p>
        </p:txBody>
      </p:sp>
    </p:spTree>
    <p:extLst>
      <p:ext uri="{BB962C8B-B14F-4D97-AF65-F5344CB8AC3E}">
        <p14:creationId xmlns:p14="http://schemas.microsoft.com/office/powerpoint/2010/main" val="587089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32B35FB-A6DD-4222-A314-1DAA0B8C5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236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3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3650"/>
                </a:solidFill>
                <a:latin typeface="Microsoft YaHei"/>
                <a:ea typeface="Microsoft YaHei"/>
                <a:cs typeface="Microsoft YaHei"/>
              </a:rPr>
              <a:t>Case2：Rician 信道 SER–SNR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EFC5F4-597E-47A1-AECB-ECF0E43A4D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3c3643f20447da"/>
          <a:stretch xmlns:a="http://schemas.openxmlformats.org/drawingml/2006/main"/>
        </p:blipFill>
        <p:spPr>
          <a:xfrm xmlns:a="http://schemas.openxmlformats.org/drawingml/2006/main">
            <a:off x="926064" y="1095375"/>
            <a:ext cx="6577497" cy="5238750"/>
          </a:xfrm>
          <a:prstGeom xmlns:a="http://schemas.openxmlformats.org/drawingml/2006/main" prst="rect">
            <a:avLst/>
          </a:prstGeom>
        </p:spPr>
      </p:pic>
      <p:sp>
        <p:nvSpPr>
          <p:cNvPr id="3" name="case2-snr">
            <a:extLst xmlns:a="http://schemas.openxmlformats.org/drawingml/2006/main">
              <a:ext uri="{FF2B5EF4-FFF2-40B4-BE49-F238E27FC236}">
                <a16:creationId xmlns:a16="http://schemas.microsoft.com/office/drawing/2014/main" id="{FE348F66-8F47-4FCD-9F51-4E775080F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52625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5870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58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587080"/>
                </a:solidFill>
                <a:latin typeface="Microsoft YaHei"/>
                <a:ea typeface="Microsoft YaHei"/>
                <a:cs typeface="Microsoft YaHei"/>
              </a:rPr>
              <a:t>−21 dB</a:t>
            </a:r>
          </a:p>
        </p:txBody>
      </p:sp>
      <p:sp>
        <p:nvSpPr>
          <p:cNvPr id="4" name="case2-vp">
            <a:extLst xmlns:a="http://schemas.openxmlformats.org/drawingml/2006/main">
              <a:ext uri="{FF2B5EF4-FFF2-40B4-BE49-F238E27FC236}">
                <a16:creationId xmlns:a16="http://schemas.microsoft.com/office/drawing/2014/main" id="{5C005655-D653-42C7-962F-A4E20F79E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0072B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72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72BD"/>
                </a:solidFill>
                <a:latin typeface="Microsoft YaHei"/>
                <a:ea typeface="Microsoft YaHei"/>
                <a:cs typeface="Microsoft YaHei"/>
              </a:rPr>
              <a:t>VP  2.89×10⁻²</a:t>
            </a:r>
          </a:p>
        </p:txBody>
      </p:sp>
      <p:sp>
        <p:nvSpPr>
          <p:cNvPr id="5" name="case2-prec">
            <a:extLst xmlns:a="http://schemas.openxmlformats.org/drawingml/2006/main">
              <a:ext uri="{FF2B5EF4-FFF2-40B4-BE49-F238E27FC236}">
                <a16:creationId xmlns:a16="http://schemas.microsoft.com/office/drawing/2014/main" id="{956AAFC2-C96C-4F35-89C6-A1B71E27A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86125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rPr>
              <a:t>PREC  0.995</a:t>
            </a:r>
          </a:p>
        </p:txBody>
      </p:sp>
      <p:sp>
        <p:nvSpPr>
          <p:cNvPr id="6" name="case2-samples">
            <a:extLst xmlns:a="http://schemas.openxmlformats.org/drawingml/2006/main">
              <a:ext uri="{FF2B5EF4-FFF2-40B4-BE49-F238E27FC236}">
                <a16:creationId xmlns:a16="http://schemas.microsoft.com/office/drawing/2014/main" id="{747DFC51-AC7D-4DB1-AB97-77A8B6F1D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476750"/>
            <a:ext cx="323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5870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8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87080"/>
                </a:solidFill>
                <a:latin typeface="Microsoft YaHei"/>
                <a:ea typeface="Microsoft YaHei"/>
                <a:cs typeface="Microsoft YaHei"/>
              </a:rPr>
              <a:t>1000 包/点</a:t>
            </a:r>
          </a:p>
          <a:p xmlns:a="http://schemas.openxmlformats.org/drawingml/2006/main">
            <a:pPr>
              <a:defRPr sz="1950" b="0">
                <a:solidFill>
                  <a:srgbClr val="58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87080"/>
                </a:solidFill>
                <a:latin typeface="Microsoft YaHei"/>
                <a:ea typeface="Microsoft YaHei"/>
                <a:cs typeface="Microsoft YaHei"/>
              </a:rPr>
              <a:t>Rician K = 10 dB</a:t>
            </a:r>
          </a:p>
        </p:txBody>
      </p:sp>
    </p:spTree>
    <p:extLst>
      <p:ext uri="{BB962C8B-B14F-4D97-AF65-F5344CB8AC3E}">
        <p14:creationId xmlns:p14="http://schemas.microsoft.com/office/powerpoint/2010/main" val="8122840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0AA91DA-12C1-4500-A0A2-77793005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236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3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3650"/>
                </a:solidFill>
                <a:latin typeface="Microsoft YaHei"/>
                <a:ea typeface="Microsoft YaHei"/>
                <a:cs typeface="Microsoft YaHei"/>
              </a:rPr>
              <a:t>AWGN 五点轨迹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3FE93C-12FB-4E63-8B3A-9876A65989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3c66fe7ba947d4"/>
          <a:stretch xmlns:a="http://schemas.openxmlformats.org/drawingml/2006/main"/>
        </p:blipFill>
        <p:spPr>
          <a:xfrm xmlns:a="http://schemas.openxmlformats.org/drawingml/2006/main">
            <a:off x="697865" y="1095375"/>
            <a:ext cx="6976745" cy="5305425"/>
          </a:xfrm>
          <a:prstGeom xmlns:a="http://schemas.openxmlformats.org/drawingml/2006/main" prst="rect">
            <a:avLst/>
          </a:prstGeom>
        </p:spPr>
      </p:pic>
      <p:sp>
        <p:nvSpPr>
          <p:cNvPr id="3" name="awgn-level">
            <a:extLst xmlns:a="http://schemas.openxmlformats.org/drawingml/2006/main">
              <a:ext uri="{FF2B5EF4-FFF2-40B4-BE49-F238E27FC236}">
                <a16:creationId xmlns:a16="http://schemas.microsoft.com/office/drawing/2014/main" id="{16D39656-7B6E-4384-B016-36658002E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24075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0072B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072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72BD"/>
                </a:solidFill>
                <a:latin typeface="Microsoft YaHei"/>
                <a:ea typeface="Microsoft YaHei"/>
                <a:cs typeface="Microsoft YaHei"/>
              </a:rPr>
              <a:t>VP 约 10⁻⁴</a:t>
            </a:r>
          </a:p>
        </p:txBody>
      </p:sp>
      <p:sp>
        <p:nvSpPr>
          <p:cNvPr id="4" name="awgn-ci">
            <a:extLst xmlns:a="http://schemas.openxmlformats.org/drawingml/2006/main">
              <a:ext uri="{FF2B5EF4-FFF2-40B4-BE49-F238E27FC236}">
                <a16:creationId xmlns:a16="http://schemas.microsoft.com/office/drawing/2014/main" id="{AAE7F8D6-8468-4B6C-BDC3-70298D315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95625"/>
            <a:ext cx="314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rPr>
              <a:t>点态 95% 区间</a:t>
            </a:r>
          </a:p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rPr>
              <a:t>均包含理论</a:t>
            </a:r>
          </a:p>
        </p:txBody>
      </p:sp>
      <p:sp>
        <p:nvSpPr>
          <p:cNvPr id="5" name="awgn-samples">
            <a:extLst xmlns:a="http://schemas.openxmlformats.org/drawingml/2006/main">
              <a:ext uri="{FF2B5EF4-FFF2-40B4-BE49-F238E27FC236}">
                <a16:creationId xmlns:a16="http://schemas.microsoft.com/office/drawing/2014/main" id="{A3852F55-1240-4E19-9252-45DB24FC0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81012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5870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8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87080"/>
                </a:solidFill>
                <a:latin typeface="Microsoft YaHei"/>
                <a:ea typeface="Microsoft YaHei"/>
                <a:cs typeface="Microsoft YaHei"/>
              </a:rPr>
              <a:t>1000 包/点</a:t>
            </a:r>
          </a:p>
        </p:txBody>
      </p:sp>
    </p:spTree>
    <p:extLst>
      <p:ext uri="{BB962C8B-B14F-4D97-AF65-F5344CB8AC3E}">
        <p14:creationId xmlns:p14="http://schemas.microsoft.com/office/powerpoint/2010/main" val="9033904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25B2D7E-7550-4B52-807D-13C176EBA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236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3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3650"/>
                </a:solidFill>
                <a:latin typeface="Microsoft YaHei"/>
                <a:ea typeface="Microsoft YaHei"/>
                <a:cs typeface="Microsoft YaHei"/>
              </a:rPr>
              <a:t>Rician 五点轨迹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49B797-947D-4749-90C8-4BE3926E8E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c10f95d09442b8"/>
          <a:stretch xmlns:a="http://schemas.openxmlformats.org/drawingml/2006/main"/>
        </p:blipFill>
        <p:spPr>
          <a:xfrm xmlns:a="http://schemas.openxmlformats.org/drawingml/2006/main">
            <a:off x="1035959" y="1095375"/>
            <a:ext cx="6357706" cy="5238750"/>
          </a:xfrm>
          <a:prstGeom xmlns:a="http://schemas.openxmlformats.org/drawingml/2006/main" prst="rect">
            <a:avLst/>
          </a:prstGeom>
        </p:spPr>
      </p:pic>
      <p:sp>
        <p:nvSpPr>
          <p:cNvPr id="3" name="rician-vp">
            <a:extLst xmlns:a="http://schemas.openxmlformats.org/drawingml/2006/main">
              <a:ext uri="{FF2B5EF4-FFF2-40B4-BE49-F238E27FC236}">
                <a16:creationId xmlns:a16="http://schemas.microsoft.com/office/drawing/2014/main" id="{9BAC0D80-AB76-43E2-A893-FFD53547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14550"/>
            <a:ext cx="34194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0072B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72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72BD"/>
                </a:solidFill>
                <a:latin typeface="Microsoft YaHei"/>
                <a:ea typeface="Microsoft YaHei"/>
                <a:cs typeface="Microsoft YaHei"/>
              </a:rPr>
              <a:t>VP  0.0313–0.0381</a:t>
            </a:r>
          </a:p>
        </p:txBody>
      </p:sp>
      <p:sp>
        <p:nvSpPr>
          <p:cNvPr id="4" name="rician-theory">
            <a:extLst xmlns:a="http://schemas.openxmlformats.org/drawingml/2006/main">
              <a:ext uri="{FF2B5EF4-FFF2-40B4-BE49-F238E27FC236}">
                <a16:creationId xmlns:a16="http://schemas.microsoft.com/office/drawing/2014/main" id="{CFB8E239-684F-4D82-96A5-05D96B13C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19425"/>
            <a:ext cx="34194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rPr>
              <a:t>理论  0.03096</a:t>
            </a:r>
          </a:p>
        </p:txBody>
      </p:sp>
      <p:sp>
        <p:nvSpPr>
          <p:cNvPr id="5" name="rician-condition">
            <a:extLst xmlns:a="http://schemas.openxmlformats.org/drawingml/2006/main">
              <a:ext uri="{FF2B5EF4-FFF2-40B4-BE49-F238E27FC236}">
                <a16:creationId xmlns:a16="http://schemas.microsoft.com/office/drawing/2014/main" id="{319F3428-418C-4440-81F1-28C319097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438650"/>
            <a:ext cx="34194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5870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8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87080"/>
                </a:solidFill>
                <a:latin typeface="Microsoft YaHei"/>
                <a:ea typeface="Microsoft YaHei"/>
                <a:cs typeface="Microsoft YaHei"/>
              </a:rPr>
              <a:t>K = 10 dB</a:t>
            </a:r>
          </a:p>
          <a:p xmlns:a="http://schemas.openxmlformats.org/drawingml/2006/main">
            <a:pPr>
              <a:defRPr sz="1950" b="0">
                <a:solidFill>
                  <a:srgbClr val="58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87080"/>
                </a:solidFill>
                <a:latin typeface="Microsoft YaHei"/>
                <a:ea typeface="Microsoft YaHei"/>
                <a:cs typeface="Microsoft YaHei"/>
              </a:rPr>
              <a:t>1000 包/点</a:t>
            </a:r>
          </a:p>
        </p:txBody>
      </p:sp>
    </p:spTree>
    <p:extLst>
      <p:ext uri="{BB962C8B-B14F-4D97-AF65-F5344CB8AC3E}">
        <p14:creationId xmlns:p14="http://schemas.microsoft.com/office/powerpoint/2010/main" val="16275365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85D2A53-D3F3-4540-A575-CD8054586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236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3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3650"/>
                </a:solidFill>
                <a:latin typeface="Microsoft YaHei"/>
                <a:ea typeface="Microsoft YaHei"/>
                <a:cs typeface="Microsoft YaHei"/>
              </a:rPr>
              <a:t>论文即时法与时间对齐变体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257FBBD7-23EA-4990-B3DA-E460C88AC517}"/>
              </a:ext>
            </a:extLst>
          </p:cNvPr>
          <p:cNvGraphicFramePr/>
          <p:nvPr/>
        </p:nvGraphicFramePr>
        <p:xfrm>
          <a:off xmlns:a="http://schemas.openxmlformats.org/drawingml/2006/main" x="590550" y="1257300"/>
          <a:ext xmlns:a="http://schemas.openxmlformats.org/drawingml/2006/main" cx="11010900" cy="3943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5f89c40136441cb"/>
          </a:graphicData>
        </a:graphic>
      </p:graphicFrame>
      <p:sp>
        <p:nvSpPr>
          <p:cNvPr id="3" name="alignment-improvement">
            <a:extLst xmlns:a="http://schemas.openxmlformats.org/drawingml/2006/main">
              <a:ext uri="{FF2B5EF4-FFF2-40B4-BE49-F238E27FC236}">
                <a16:creationId xmlns:a16="http://schemas.microsoft.com/office/drawing/2014/main" id="{8900CB2E-2B02-4F80-9476-EA14FE0F2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rPr>
              <a:t>0 s：3637 错降至 90 错，约 40.4 倍</a:t>
            </a:r>
          </a:p>
        </p:txBody>
      </p:sp>
      <p:sp>
        <p:nvSpPr>
          <p:cNvPr id="4" name="alignment-low-rate">
            <a:extLst xmlns:a="http://schemas.openxmlformats.org/drawingml/2006/main">
              <a:ext uri="{FF2B5EF4-FFF2-40B4-BE49-F238E27FC236}">
                <a16:creationId xmlns:a16="http://schemas.microsoft.com/office/drawing/2014/main" id="{5D73B473-E67C-46C6-947C-BD1C8E1B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5870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8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87080"/>
                </a:solidFill>
                <a:latin typeface="Microsoft YaHei"/>
                <a:ea typeface="Microsoft YaHei"/>
                <a:cs typeface="Microsoft YaHei"/>
              </a:rPr>
              <a:t>−366 s：57 错增加至 91 错</a:t>
            </a:r>
          </a:p>
        </p:txBody>
      </p:sp>
    </p:spTree>
    <p:extLst>
      <p:ext uri="{BB962C8B-B14F-4D97-AF65-F5344CB8AC3E}">
        <p14:creationId xmlns:p14="http://schemas.microsoft.com/office/powerpoint/2010/main" val="15770613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C443647-9D60-44AD-8A02-95905237A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236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3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3650"/>
                </a:solidFill>
                <a:latin typeface="Microsoft YaHei"/>
                <a:ea typeface="Microsoft YaHei"/>
                <a:cs typeface="Microsoft YaHei"/>
              </a:rPr>
              <a:t>同包错误计数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E5326766-7FD4-490E-ABF0-54DCC1E67F09}"/>
              </a:ext>
            </a:extLst>
          </p:cNvPr>
          <p:cNvGraphicFramePr/>
          <p:nvPr/>
        </p:nvGraphicFramePr>
        <p:xfrm>
          <a:off xmlns:a="http://schemas.openxmlformats.org/drawingml/2006/main" x="609600" y="1257300"/>
          <a:ext xmlns:a="http://schemas.openxmlformats.org/drawingml/2006/main" cx="10972800" cy="39909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208303895db441d"/>
          </a:graphicData>
        </a:graphic>
      </p:graphicFrame>
      <p:sp>
        <p:nvSpPr>
          <p:cNvPr id="3" name="paired-totals">
            <a:extLst xmlns:a="http://schemas.openxmlformats.org/drawingml/2006/main">
              <a:ext uri="{FF2B5EF4-FFF2-40B4-BE49-F238E27FC236}">
                <a16:creationId xmlns:a16="http://schemas.microsoft.com/office/drawing/2014/main" id="{F578FC62-41F4-4F35-8FAC-D1E08C705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rPr>
              <a:t>VP 共 78 错，同包 Ideal 共 76 错</a:t>
            </a:r>
          </a:p>
        </p:txBody>
      </p:sp>
      <p:sp>
        <p:nvSpPr>
          <p:cNvPr id="4" name="expected-errors">
            <a:extLst xmlns:a="http://schemas.openxmlformats.org/drawingml/2006/main">
              <a:ext uri="{FF2B5EF4-FFF2-40B4-BE49-F238E27FC236}">
                <a16:creationId xmlns:a16="http://schemas.microsoft.com/office/drawing/2014/main" id="{4C16C283-3024-4DD5-9690-702B8F36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5870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8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87080"/>
                </a:solidFill>
                <a:latin typeface="Microsoft YaHei"/>
                <a:ea typeface="Microsoft YaHei"/>
                <a:cs typeface="Microsoft YaHei"/>
              </a:rPr>
              <a:t>每点理论预期约 16.8 错</a:t>
            </a:r>
          </a:p>
        </p:txBody>
      </p:sp>
    </p:spTree>
    <p:extLst>
      <p:ext uri="{BB962C8B-B14F-4D97-AF65-F5344CB8AC3E}">
        <p14:creationId xmlns:p14="http://schemas.microsoft.com/office/powerpoint/2010/main" val="200904718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8675246-E603-4AD7-89CD-7000C3B4F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236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3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3650"/>
                </a:solidFill>
                <a:latin typeface="Microsoft YaHei"/>
                <a:ea typeface="Microsoft YaHei"/>
                <a:cs typeface="Microsoft YaHei"/>
              </a:rPr>
              <a:t>当前观察与实验边界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A6D772-1479-47DF-88A6-55E5A3A6AE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e73b4e6cef4ef2"/>
          <a:stretch xmlns:a="http://schemas.openxmlformats.org/drawingml/2006/main"/>
        </p:blipFill>
        <p:spPr>
          <a:xfrm xmlns:a="http://schemas.openxmlformats.org/drawingml/2006/main">
            <a:off x="1438607" y="1095375"/>
            <a:ext cx="9314785" cy="4829175"/>
          </a:xfrm>
          <a:prstGeom xmlns:a="http://schemas.openxmlformats.org/drawingml/2006/main" prst="rect">
            <a:avLst/>
          </a:prstGeom>
        </p:spPr>
      </p:pic>
      <p:sp>
        <p:nvSpPr>
          <p:cNvPr id="3" name="summary-boundary">
            <a:extLst xmlns:a="http://schemas.openxmlformats.org/drawingml/2006/main">
              <a:ext uri="{FF2B5EF4-FFF2-40B4-BE49-F238E27FC236}">
                <a16:creationId xmlns:a16="http://schemas.microsoft.com/office/drawing/2014/main" id="{143A14CC-7A79-4D5E-BC15-5ADF8C70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1112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rPr>
              <a:t>时间对齐变体仍高于理论。全轨 Formal 尚未启动</a:t>
            </a:r>
          </a:p>
        </p:txBody>
      </p:sp>
    </p:spTree>
    <p:extLst>
      <p:ext uri="{BB962C8B-B14F-4D97-AF65-F5344CB8AC3E}">
        <p14:creationId xmlns:p14="http://schemas.microsoft.com/office/powerpoint/2010/main" val="16748578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2026-10-06T12:28:05.6340000Z</dcterms:created>
  <dcterms:modified xsi:type="dcterms:W3CDTF">2026-10-06T12:28:05.6340000Z</dcterms:modified>
</coreProperties>
</file>