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d14e75dd144a4" /><Relationship Type="http://schemas.openxmlformats.org/officeDocument/2006/relationships/extended-properties" Target="/docProps/app.xml" Id="Rc3655abf938748f6" /><Relationship Type="http://schemas.openxmlformats.org/officeDocument/2006/relationships/officeDocument" Target="/ppt/presentation.xml" Id="R11ac76f64c3644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b02735c0a4bf3"/>
  </p:sldMasterIdLst>
  <p:notesMasterIdLst>
    <p:notesMasterId xmlns:r="http://schemas.openxmlformats.org/officeDocument/2006/relationships" r:id="R6e19dccf7df141e6"/>
  </p:notesMasterIdLst>
  <p:sldIdLst>
    <p:sldId xmlns:r="http://schemas.openxmlformats.org/officeDocument/2006/relationships" id="256" r:id="R8b26df22719745cc"/>
    <p:sldId xmlns:r="http://schemas.openxmlformats.org/officeDocument/2006/relationships" id="257" r:id="R5443271dd7284090"/>
    <p:sldId xmlns:r="http://schemas.openxmlformats.org/officeDocument/2006/relationships" id="258" r:id="Rc8995bd45a9c4ea5"/>
    <p:sldId xmlns:r="http://schemas.openxmlformats.org/officeDocument/2006/relationships" id="259" r:id="Re7a4a9c027634ee1"/>
    <p:sldId xmlns:r="http://schemas.openxmlformats.org/officeDocument/2006/relationships" id="260" r:id="R9403df320ac84e11"/>
    <p:sldId xmlns:r="http://schemas.openxmlformats.org/officeDocument/2006/relationships" id="261" r:id="R0bf4a5dab73e40b5"/>
    <p:sldId xmlns:r="http://schemas.openxmlformats.org/officeDocument/2006/relationships" id="262" r:id="R4d0dd1d98c7a4b7c"/>
    <p:sldId xmlns:r="http://schemas.openxmlformats.org/officeDocument/2006/relationships" id="263" r:id="R38568c08955c403a"/>
    <p:sldId xmlns:r="http://schemas.openxmlformats.org/officeDocument/2006/relationships" id="264" r:id="R90bca04b965a47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7c149904eb446f" /><Relationship Type="http://schemas.openxmlformats.org/officeDocument/2006/relationships/slideMaster" Target="/ppt/slideMasters/slideMaster1.xml" Id="R17fb02735c0a4bf3" /><Relationship Type="http://schemas.openxmlformats.org/officeDocument/2006/relationships/notesMaster" Target="/ppt/notesMasters/notesMaster1.xml" Id="R6e19dccf7df141e6" /><Relationship Type="http://schemas.openxmlformats.org/officeDocument/2006/relationships/presProps" Target="/ppt/presProps.xml" Id="Rec3bbec854604143" /><Relationship Type="http://schemas.openxmlformats.org/officeDocument/2006/relationships/tableStyles" Target="/ppt/tableStyles.xml" Id="R23d8309145e0432a" /><Relationship Type="http://schemas.openxmlformats.org/officeDocument/2006/relationships/slide" Target="/ppt/slides/slide1.xml" Id="R8b26df22719745cc" /><Relationship Type="http://schemas.openxmlformats.org/officeDocument/2006/relationships/slide" Target="/ppt/slides/slide2.xml" Id="R5443271dd7284090" /><Relationship Type="http://schemas.openxmlformats.org/officeDocument/2006/relationships/slide" Target="/ppt/slides/slide3.xml" Id="Rc8995bd45a9c4ea5" /><Relationship Type="http://schemas.openxmlformats.org/officeDocument/2006/relationships/slide" Target="/ppt/slides/slide4.xml" Id="Re7a4a9c027634ee1" /><Relationship Type="http://schemas.openxmlformats.org/officeDocument/2006/relationships/slide" Target="/ppt/slides/slide5.xml" Id="R9403df320ac84e11" /><Relationship Type="http://schemas.openxmlformats.org/officeDocument/2006/relationships/slide" Target="/ppt/slides/slide6.xml" Id="R0bf4a5dab73e40b5" /><Relationship Type="http://schemas.openxmlformats.org/officeDocument/2006/relationships/slide" Target="/ppt/slides/slide7.xml" Id="R4d0dd1d98c7a4b7c" /><Relationship Type="http://schemas.openxmlformats.org/officeDocument/2006/relationships/slide" Target="/ppt/slides/slide8.xml" Id="R38568c08955c403a" /><Relationship Type="http://schemas.openxmlformats.org/officeDocument/2006/relationships/slide" Target="/ppt/slides/slide9.xml" Id="R90bca04b965a47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7a9f8c6cc45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0d83da9d64e32" /><Relationship Type="http://schemas.openxmlformats.org/officeDocument/2006/relationships/notesMaster" Target="/ppt/notesMasters/notesMaster1.xml" Id="Rb48f647c10e54e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a4318578964675" /><Relationship Type="http://schemas.openxmlformats.org/officeDocument/2006/relationships/notesMaster" Target="/ppt/notesMasters/notesMaster1.xml" Id="R807623f6cfed4a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e2540f7ac94abe" /><Relationship Type="http://schemas.openxmlformats.org/officeDocument/2006/relationships/notesMaster" Target="/ppt/notesMasters/notesMaster1.xml" Id="Ra08183c93a3345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cd962ffec4b23" /><Relationship Type="http://schemas.openxmlformats.org/officeDocument/2006/relationships/notesMaster" Target="/ppt/notesMasters/notesMaster1.xml" Id="R2ad206f51e98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0847adb1a3488d" /><Relationship Type="http://schemas.openxmlformats.org/officeDocument/2006/relationships/notesMaster" Target="/ppt/notesMasters/notesMaster1.xml" Id="R31d835acfa944e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df7e55512c4e3b" /><Relationship Type="http://schemas.openxmlformats.org/officeDocument/2006/relationships/notesMaster" Target="/ppt/notesMasters/notesMaster1.xml" Id="Raa662657bbae49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709830f2c24041" /><Relationship Type="http://schemas.openxmlformats.org/officeDocument/2006/relationships/notesMaster" Target="/ppt/notesMasters/notesMaster1.xml" Id="Rd0dc9724b66944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2a7a0d96f74f47" /><Relationship Type="http://schemas.openxmlformats.org/officeDocument/2006/relationships/notesMaster" Target="/ppt/notesMasters/notesMaster1.xml" Id="R53f779242d7d44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93b4e379024e3c" /><Relationship Type="http://schemas.openxmlformats.org/officeDocument/2006/relationships/notesMaster" Target="/ppt/notesMasters/notesMaster1.xml" Id="Rdcd95a0ea3db48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汇报最近完成的SF12冻结V8、PREC、独立理论和观测导频时间对齐变体。数据更新截至2026-10-05。时间对齐变体与论文式(17)即时方法存在明确差异，不能将变体称为原始论文第三种方法。</a:t>
            </a:r>
          </a:p>
          <a:p xmlns:a="http://schemas.openxmlformats.org/drawingml/2006/main">
            <a:r>
              <a:t>来源：D:\codex\Lora（SER performance of different estimation strategies）\senlora_symmetric_v8\PILOT_TIME_ALIGNED_VARIANT.md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物理SF=有效SF=12，4096点FFT，BW=Fs=125kHz，符号时长32.768ms。CR3对应Hamming(7,4)，16个7-symbol block，共112个payload符号。原生帧8前导+112数据为120T=3.93216s，导频方法234.25T=7.675904s。</a:t>
            </a:r>
          </a:p>
          <a:p xmlns:a="http://schemas.openxmlformats.org/drawingml/2006/main">
            <a:r>
              <a:t>信道AWGN，以及每包一个常数复增益的单位平均功率Rician，K=10dB。h=sqrt(K/(K+1))+sqrt(1/(2(K+1)))*(a+jb)，a,b独立标准高斯，K线性值10。噪声方差10^(-SNR/10)，不按瞬时衰落功率重新归一化。</a:t>
            </a:r>
          </a:p>
          <a:p xmlns:a="http://schemas.openxmlformats.org/drawingml/2006/main">
            <a:r>
              <a:t>轨道高度550km，载频868MHz，Track-A解析Doppler模型。每个离散位置独立生成、估计、解码。Case-SNR为Rician下Case1(-366s)/Case2(0s)，-30:1:-21dB，20个条件各1000包，共20000条配对记录。轨迹5点×AWGN/Rician各1000包，共10000条记录，Es/N0=15dB，对应采样SNR=-21.12359948dB。原生PREC/VP/Ideal冻结同包基线只读复用，重算变体及其离线Ideal。</a:t>
            </a:r>
          </a:p>
          <a:p xmlns:a="http://schemas.openxmlformats.org/drawingml/2006/main">
            <a:r>
              <a:t>VP d0=0.10bin，d1=0.80bin，所有位置使用相同冻结入口、同一参数和两遍流程。接收机不输入轨道、SNR、真值或目标SER，Ideal仅解码结束后离线对照。SER是最终硬物理符号错误数/112000。</a:t>
            </a:r>
          </a:p>
          <a:p xmlns:a="http://schemas.openxmlformats.org/drawingml/2006/main">
            <a:r>
              <a:t>来源：D:\codex\Lora（SER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>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D:\codex\Lora（SER performance of different estimation strategies）\senlora_symmetric_v8\v8_frozen_receiver_manifest.json</a:t>
            </a:r>
          </a:p>
          <a:p xmlns:a="http://schemas.openxmlformats.org/drawingml/2006/main">
            <a:r>
              <a:t>D:\codex\Lora（SER performance of different estimation strategies）\src\exp1TrackAOrbit.m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Case1为-366s的低rate端。本页是Rician K=10dB，每点1000包。-21dB端VP=0.0313571428571429，PREC=0.029375，理论=0.0284643251770817，时间对齐变体=0.0726339285714286。VP与理论接近不意味着已证明等效。原生方法与导频方法帧长和开销不同。</a:t>
            </a:r>
          </a:p>
          <a:p xmlns:a="http://schemas.openxmlformats.org/drawingml/2006/main">
            <a:r>
              <a:t>V8从相同8前导构造Static/Dynamic模型，payload起点对齐后融合完整相位轨迹。第一遍补偿和Hamming解码，第二遍当前block残差CFO与合法Hamming码字联合ML，质量门仅影响后续block反馈。d0/d1固定，未增加轨道分支。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strategies）\results\senlora_symmetric_v8\pilot_time_aligned_case_snr_rician\CASE1_FOUR_CURVES.png</a:t>
            </a:r>
          </a:p>
          <a:p xmlns:a="http://schemas.openxmlformats.org/drawingml/2006/main">
            <a:r>
              <a:t>结果数据：D:\codex\Lora（SER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2为0s的高rate端。-21dB端VP=0.0288660714285714，PREC=0.995089285714286，理论=0.0284643251770817，时间对齐变体=0.0649821428571429。PREC高rate端观测SER接近1，冻结VP明显降低错误。仍需预注册配对容差与独立统计，不能据一端接近理论宣称Formal通过。</a:t>
            </a:r>
          </a:p>
          <a:p xmlns:a="http://schemas.openxmlformats.org/drawingml/2006/main">
            <a:r>
              <a:t>数据来源：D:\codex\Lora（SER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strategies）\results\senlora_symmetric_v8\pilot_time_aligned_case_snr_rician\CASE2_FOUR_CURVES.png</a:t>
            </a:r>
          </a:p>
          <a:p xmlns:a="http://schemas.openxmlformats.org/drawingml/2006/main">
            <a:r>
              <a:t>结果数据：D:\codex\Lora（SER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采样SNR=-21.1235994797dB，Es/N0=15dB，每点1000包。VP原始错数16/11/14/12/25，对应SER9.8214e-5至2.2321e-4。理论是未编码非相干FFT的总体期望1.503107436e-4，不是每批Monte Carlo观测的样本下界，也不是所有码辅助接收机的信息论下界。</a:t>
            </a:r>
          </a:p>
          <a:p xmlns:a="http://schemas.openxmlformats.org/drawingml/2006/main">
            <a:r>
              <a:t>误差条为点态95%完整包cluster bootstrap区间，20000次，分析种子2026100500+点号。VP和native Ideal共用重采样包索引，全局随机状态与原始噪声种子不变。所有点态VP区间包含理论，配对差异区间包含0。不是五点同时置信带，也不是等效性证明。</a:t>
            </a:r>
          </a:p>
          <a:p xmlns:a="http://schemas.openxmlformats.org/drawingml/2006/main">
            <a:r>
              <a:t>统计来源：D:\codex\Lora（SER performance of different estimation strategies）\results\senlora_symmetric_v8\figure12_awgn_uncertainty\AWGN_POINT_UNCERTAINTY.csv</a:t>
            </a:r>
          </a:p>
          <a:p xmlns:a="http://schemas.openxmlformats.org/drawingml/2006/main">
            <a:r>
              <a:t>D:\codex\Lora（SER performance of different estimation strategies）\senlora_symmetric_v8\AWGN_THEORY_SAMPLING_CHECK.md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strategies）\results\senlora_symmetric_v8\figure12_awgn_uncertainty\FIGURE12_AWGN_FOUR_CURVES_95CI.png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Rician为单位平均功率、每包平坦、K=10dB。五点轨迹VP SER依次0.0344821、0.03575、0.0339554、0.0312768、0.0381161。理论常数0.03096406913，时间对齐变体0.0703214至0.0864375，仍明显高于理论。这里没有给Rician添加未计算的置信区间，没有统计显著性或严格平直声明。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strategies）\results\senlora_symmetric_v8\figure12_pilot_time_aligned\FIGURE12_RICIAN_FOUR_CURVES.png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图中纵轴是log10(SER)，只是显示坐标变换，未调整任何错误计数。论文即时法是当前SF12/noLDRO PHY适配的式(17)方法，n_int=1，FFT16，并非完全复用论文原始PHY。新增时间对齐变体缓冲一个数据符号，以左右已接收导频在相对帧中心时刻插值CFO。首数据符号权重5/9，其余1/2，按模Fs最短圆弧插值；符号内部rate仍为0。隐式使用频率变化信息，明确标注usesDopplerRate=true、usesFuturePilot=true。</a:t>
            </a:r>
          </a:p>
          <a:p xmlns:a="http://schemas.openxmlformats.org/drawingml/2006/main">
            <a:r>
              <a:t>0s同包观测错数从3637降至90，约40.4倍。-366s从57增至91，提示收益并不覆盖所有位置。变体AWGN整体仍约为理论5.2至6.1倍，没有实现理论性能。原生帧120T，导频帧234.25T，等待右导频有额外延迟。</a:t>
            </a:r>
          </a:p>
          <a:p xmlns:a="http://schemas.openxmlformats.org/drawingml/2006/main">
            <a:r>
              <a:t>论文即时法来源：D:\codex\Lora（SER performance of different estimation strategies）\results\senlora_symmetric_v8\figure12_four_methods_nint1\FOUR_CURVE_SUMMARY.csv</a:t>
            </a:r>
          </a:p>
          <a:p xmlns:a="http://schemas.openxmlformats.org/drawingml/2006/main">
            <a:r>
              <a:t>变体来源：D:\codex\Lora（SER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机制：D:\codex\Lora（SER performance of different estimation strategies）\senlora_symmetric_v8\PILOT_TIME_ALIGNED_VARIANT.md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AWGN，Es/N0=15dB，每点1000包，每包112数据符号。VP和native Ideal使用同一原生帧、同一payload/noise。Ideal仅接收机结束后使用真实样本相位离线补偿，没有把Ideal CFO传给VP。</a:t>
            </a:r>
          </a:p>
          <a:p xmlns:a="http://schemas.openxmlformats.org/drawingml/2006/main">
            <a:r>
              <a:t>VP错数16/11/14/12/25，Ideal错数16/13/12/12/23。总错误78/76，总SER1.392857e-4/1.357143e-4。理论每点预期16.83480328错。当前数据未提供超越理论或与Ideal等效的统计证据。</a:t>
            </a:r>
          </a:p>
          <a:p xmlns:a="http://schemas.openxmlformats.org/drawingml/2006/main">
            <a:r>
              <a:t>来源：D:\codex\Lora（SER performance of different estimation strategies）\results\senlora_symmetric_v8\figure12_awgn_uncertainty\AWGN_POINT_UNCERTAINTY.csv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当前VP在AWGN五点保持约10^-4量级，Rician五点约3e-2。时间对齐变体改善0s即时CFO滞后的尖峰，但整体仍高于当前独立理论，而且低rate端的实际错数有所增加。不能宣称严格平直、原论文完全复现或Formal验收通过。</a:t>
            </a:r>
          </a:p>
          <a:p xmlns:a="http://schemas.openxmlformats.org/drawingml/2006/main">
            <a:r>
              <a:t>本轮30个条件各1000包，共30000配对记录。原生PREC/VP/Ideal基线只读复用，未修改VP/PREC冻结参数。没有拟合、平滑、强制非零、强制排序或挑选种子。代码采用断点接续完成，所有ID1-1000恰好一次、接收机异常0，MATLAB偶发heap corruption根因仍未定位。</a:t>
            </a:r>
          </a:p>
          <a:p xmlns:a="http://schemas.openxmlformats.org/drawingml/2006/main">
            <a:r>
              <a:t>下一步建议先预注册Case2的V8-Ideal绝对SER容差，再决定是否使用第三组未见种子启动9000成对包Formal。Formal应使用成对包cluster bootstrap，并检查镜像和所有相邻点；不能把现有点态区间当作全轨等效证明。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strategies）\results\senlora_symmetric_v8\figure12_awgn_uncertainty\FIGURE12_AWGN_RICIAN_FOUR_CURVES_95CI.png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5efba2fcf4d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d7c40678c42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91dc53efc47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24900a81240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a37513f8a46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3b8be14614c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F7CDED-E6A4-47FE-84A5-DA9B555383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46580B-FECF-44E0-ABE5-BEBD6A5E46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8184FF-EA97-4A02-967A-A0AF237CB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D66A4A-B440-4D41-A09D-BE398E96F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30F7D1-EB31-46EA-8825-3E3013D31A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E0AF99-F4E6-42E1-8E91-2FA967EF2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DD7470-89DB-4BE2-BB17-4B111192D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0D474D-C573-4D0F-9822-6F365B7A6B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31A99C-0226-4E23-A459-FB7FC395D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97F155-FF70-4744-B6E1-4668FFEF8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558d2b530d4f77" /><Relationship Type="http://schemas.openxmlformats.org/officeDocument/2006/relationships/slideLayout" Target="/ppt/slideLayouts/slideLayout1.xml" Id="Rebdc54b14d234909" /><Relationship Type="http://schemas.openxmlformats.org/officeDocument/2006/relationships/slideLayout" Target="/ppt/slideLayouts/slideLayout2.xml" Id="R271641e6ea094105" /><Relationship Type="http://schemas.openxmlformats.org/officeDocument/2006/relationships/slideLayout" Target="/ppt/slideLayouts/slideLayout3.xml" Id="R741741dbc4e84ea8" /><Relationship Type="http://schemas.openxmlformats.org/officeDocument/2006/relationships/slideLayout" Target="/ppt/slideLayouts/slideLayout4.xml" Id="R7c2f134175ca4f4d" /><Relationship Type="http://schemas.openxmlformats.org/officeDocument/2006/relationships/slideLayout" Target="/ppt/slideLayouts/slideLayout5.xml" Id="R2621847e921e41a9" /><Relationship Type="http://schemas.openxmlformats.org/officeDocument/2006/relationships/slideLayout" Target="/ppt/slideLayouts/slideLayout6.xml" Id="R55c698c71803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dc54b14d234909"/>
    <p:sldLayoutId xmlns:r="http://schemas.openxmlformats.org/officeDocument/2006/relationships" id="2147483650" r:id="R271641e6ea094105"/>
    <p:sldLayoutId xmlns:r="http://schemas.openxmlformats.org/officeDocument/2006/relationships" id="2147483651" r:id="R741741dbc4e84ea8"/>
    <p:sldLayoutId xmlns:r="http://schemas.openxmlformats.org/officeDocument/2006/relationships" id="2147483652" r:id="R7c2f134175ca4f4d"/>
    <p:sldLayoutId xmlns:r="http://schemas.openxmlformats.org/officeDocument/2006/relationships" id="2147483653" r:id="R2621847e921e41a9"/>
    <p:sldLayoutId xmlns:r="http://schemas.openxmlformats.org/officeDocument/2006/relationships" id="2147483654" r:id="R55c698c71803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6067bb07b462f" /><Relationship Type="http://schemas.openxmlformats.org/officeDocument/2006/relationships/notesSlide" Target="/ppt/notesSlides/notesSlide1.xml" Id="R915da0b2437a4a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2a122d9464cad" /><Relationship Type="http://schemas.openxmlformats.org/officeDocument/2006/relationships/notesSlide" Target="/ppt/notesSlides/notesSlide2.xml" Id="R3e0a216108fe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0754307674b04" /><Relationship Type="http://schemas.openxmlformats.org/officeDocument/2006/relationships/image" Target="/ppt/media/image.png" Id="Rd5b727f734274252" /><Relationship Type="http://schemas.openxmlformats.org/officeDocument/2006/relationships/notesSlide" Target="/ppt/notesSlides/notesSlide3.xml" Id="R298b57c85b9844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e122c77b64d2f" /><Relationship Type="http://schemas.openxmlformats.org/officeDocument/2006/relationships/image" Target="/ppt/media/image2.png" Id="R8f66c0d81f6d4759" /><Relationship Type="http://schemas.openxmlformats.org/officeDocument/2006/relationships/notesSlide" Target="/ppt/notesSlides/notesSlide4.xml" Id="Rbc29a8455f9749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99a933fbc4818" /><Relationship Type="http://schemas.openxmlformats.org/officeDocument/2006/relationships/image" Target="/ppt/media/image3.png" Id="R941f26068550408b" /><Relationship Type="http://schemas.openxmlformats.org/officeDocument/2006/relationships/notesSlide" Target="/ppt/notesSlides/notesSlide5.xml" Id="R0f74c217383541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7120ec0b043e8" /><Relationship Type="http://schemas.openxmlformats.org/officeDocument/2006/relationships/image" Target="/ppt/media/image4.png" Id="R8e42eb64a43745db" /><Relationship Type="http://schemas.openxmlformats.org/officeDocument/2006/relationships/notesSlide" Target="/ppt/notesSlides/notesSlide6.xml" Id="Rb880576fc99d45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3dee4e2424131" /><Relationship Type="http://schemas.openxmlformats.org/officeDocument/2006/relationships/chart" Target="/ppt/slides/charts/chart1.xml" Id="R243529b03ec241d2" /><Relationship Type="http://schemas.openxmlformats.org/officeDocument/2006/relationships/notesSlide" Target="/ppt/notesSlides/notesSlide7.xml" Id="R745d93d51cf64a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f44172ccc47fe" /><Relationship Type="http://schemas.openxmlformats.org/officeDocument/2006/relationships/chart" Target="/ppt/slides/charts/chart2.xml" Id="R07c6f590d4c444c2" /><Relationship Type="http://schemas.openxmlformats.org/officeDocument/2006/relationships/notesSlide" Target="/ppt/notesSlides/notesSlide8.xml" Id="Rfc3304104a4e46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66ce04ec7447c" /><Relationship Type="http://schemas.openxmlformats.org/officeDocument/2006/relationships/image" Target="/ppt/media/image5.png" Id="Rea2a0909657841bc" /><Relationship Type="http://schemas.openxmlformats.org/officeDocument/2006/relationships/notesSlide" Target="/ppt/notesSlides/notesSlide9.xml" Id="Rb33d93ef0581465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论文即时法（PHY适配）</c:v>
          </c:tx>
          <c:spPr>
            <a:ln xmlns:a="http://schemas.openxmlformats.org/drawingml/2006/main" w="28575">
              <a:solidFill>
                <a:srgbClr val="A26928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A26928"/>
              </a:solidFill>
            </c:spPr>
          </c:marker>
          <c:cat>
            <c:numLit>
              <c:formatCode>General</c:formatCode>
              <c:ptCount val="5"/>
              <c:pt idx="0">
                <c:v>-366</c:v>
              </c:pt>
              <c:pt idx="1">
                <c:v>-274.5</c:v>
              </c:pt>
              <c:pt idx="2">
                <c:v>-183</c:v>
              </c:pt>
              <c:pt idx="3">
                <c:v>-91.5</c:v>
              </c:pt>
              <c:pt idx="4">
                <c:v>0</c:v>
              </c:pt>
            </c:numLit>
          </c:cat>
          <c:val>
            <c:numLit>
              <c:formatCode>0</c:formatCode>
              <c:ptCount val="5"/>
              <c:pt idx="0">
                <c:v>-3.293343166998</c:v>
              </c:pt>
              <c:pt idx="1">
                <c:v>-3.236304666027</c:v>
              </c:pt>
              <c:pt idx="2">
                <c:v>-3.210368931933</c:v>
              </c:pt>
              <c:pt idx="3">
                <c:v>-3.146128035678</c:v>
              </c:pt>
              <c:pt idx="4">
                <c:v>-1.488474721615</c:v>
              </c:pt>
            </c:numLit>
          </c:val>
          <c:smooth val="0"/>
        </c:ser>
        <c:ser>
          <c:idx val="1"/>
          <c:order val="1"/>
          <c:tx>
            <c:v>时间对齐变体</c:v>
          </c:tx>
          <c:spPr>
            <a:ln xmlns:a="http://schemas.openxmlformats.org/drawingml/2006/main" w="28575">
              <a:solidFill>
                <a:srgbClr val="54832C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54832C"/>
              </a:solidFill>
            </c:spPr>
          </c:marker>
          <c:cat>
            <c:numLit>
              <c:formatCode>General</c:formatCode>
              <c:ptCount val="5"/>
              <c:pt idx="0">
                <c:v>-366</c:v>
              </c:pt>
              <c:pt idx="1">
                <c:v>-274.5</c:v>
              </c:pt>
              <c:pt idx="2">
                <c:v>-183</c:v>
              </c:pt>
              <c:pt idx="3">
                <c:v>-91.5</c:v>
              </c:pt>
              <c:pt idx="4">
                <c:v>0</c:v>
              </c:pt>
            </c:numLit>
          </c:cat>
          <c:val>
            <c:numLit>
              <c:formatCode>0</c:formatCode>
              <c:ptCount val="5"/>
              <c:pt idx="0">
                <c:v>-3.090176630349</c:v>
              </c:pt>
              <c:pt idx="1">
                <c:v>-3.066946789631</c:v>
              </c:pt>
              <c:pt idx="2">
                <c:v>-3.040617850908</c:v>
              </c:pt>
              <c:pt idx="3">
                <c:v>-3.10473535052</c:v>
              </c:pt>
              <c:pt idx="4">
                <c:v>-3.094975513231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帧起点 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-1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log₁₀(SER)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82B3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VP V8</c:v>
          </c:tx>
          <c:spPr>
            <a:solidFill xmlns:a="http://schemas.openxmlformats.org/drawingml/2006/main">
              <a:srgbClr val="0072BD"/>
            </a:solidFill>
          </c:spPr>
          <c:cat>
            <c:numLit>
              <c:formatCode>General</c:formatCode>
              <c:ptCount val="5"/>
              <c:pt idx="0">
                <c:v>-366</c:v>
              </c:pt>
              <c:pt idx="1">
                <c:v>-274.5</c:v>
              </c:pt>
              <c:pt idx="2">
                <c:v>-183</c:v>
              </c:pt>
              <c:pt idx="3">
                <c:v>-91.5</c:v>
              </c:pt>
              <c:pt idx="4">
                <c:v>0</c:v>
              </c:pt>
            </c:numLit>
          </c:cat>
          <c:val>
            <c:numLit>
              <c:formatCode>0</c:formatCode>
              <c:ptCount val="5"/>
              <c:pt idx="0">
                <c:v>16</c:v>
              </c:pt>
              <c:pt idx="1">
                <c:v>11</c:v>
              </c:pt>
              <c:pt idx="2">
                <c:v>14</c:v>
              </c:pt>
              <c:pt idx="3">
                <c:v>12</c:v>
              </c:pt>
              <c:pt idx="4">
                <c:v>25</c:v>
              </c:pt>
            </c:numLit>
          </c:val>
        </c:ser>
        <c:ser>
          <c:idx val="1"/>
          <c:order val="1"/>
          <c:tx>
            <c:v>同包 Ideal</c:v>
          </c:tx>
          <c:spPr>
            <a:solidFill xmlns:a="http://schemas.openxmlformats.org/drawingml/2006/main">
              <a:srgbClr val="C37C2C"/>
            </a:solidFill>
          </c:spPr>
          <c:cat>
            <c:numLit>
              <c:formatCode>General</c:formatCode>
              <c:ptCount val="5"/>
              <c:pt idx="0">
                <c:v>-366</c:v>
              </c:pt>
              <c:pt idx="1">
                <c:v>-274.5</c:v>
              </c:pt>
              <c:pt idx="2">
                <c:v>-183</c:v>
              </c:pt>
              <c:pt idx="3">
                <c:v>-91.5</c:v>
              </c:pt>
              <c:pt idx="4">
                <c:v>0</c:v>
              </c:pt>
            </c:numLit>
          </c:cat>
          <c:val>
            <c:numLit>
              <c:formatCode>0</c:formatCode>
              <c:ptCount val="5"/>
              <c:pt idx="0">
                <c:v>16</c:v>
              </c:pt>
              <c:pt idx="1">
                <c:v>13</c:v>
              </c:pt>
              <c:pt idx="2">
                <c:v>12</c:v>
              </c:pt>
              <c:pt idx="3">
                <c:v>12</c:v>
              </c:pt>
              <c:pt idx="4">
                <c:v>23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帧起点 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符号错误数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82B3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6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783662B-B8B2-406D-B92C-A62C3FCA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SenLoRa V8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轨道场景 SER 实验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AE041BF-230B-47CE-BA03-34050540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rPr>
              <a:t>AWGN 与莱斯衰落下的估计补偿对比</a:t>
            </a:r>
          </a:p>
        </p:txBody>
      </p:sp>
      <p:sp>
        <p:nvSpPr>
          <p:cNvPr id="3" name="cover-date">
            <a:extLst xmlns:a="http://schemas.openxmlformats.org/drawingml/2006/main">
              <a:ext uri="{FF2B5EF4-FFF2-40B4-BE49-F238E27FC236}">
                <a16:creationId xmlns:a16="http://schemas.microsoft.com/office/drawing/2014/main" id="{DB0AB6CF-41A3-4195-B754-A4015026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rPr>
              <a:t>组会汇报  2026.10.06</a:t>
            </a:r>
          </a:p>
        </p:txBody>
      </p:sp>
    </p:spTree>
    <p:extLst>
      <p:ext uri="{BB962C8B-B14F-4D97-AF65-F5344CB8AC3E}">
        <p14:creationId xmlns:p14="http://schemas.microsoft.com/office/powerpoint/2010/main" val="2081199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653006-9728-4161-A22D-41ADFD7B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实验条件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8D30B-3EE7-4374-85BB-2A9E0350FB56}"/>
              </a:ext>
            </a:extLst>
          </p:cNvPr>
          <p:cNvGraphicFramePr/>
          <p:nvPr/>
        </p:nvGraphicFramePr>
        <p:xfrm>
          <a:off xmlns:a="http://schemas.openxmlformats.org/drawingml/2006/main" x="533400" y="1333500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3895725"/>
                <a:gridCol w="1666875"/>
                <a:gridCol w="3895725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BW / Fs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125 kHz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CR3，Hamming(7,4)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原生帧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前导 + 112 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信道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AWGN / Rician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dB，每包平坦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载频 / 高度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868 MHz / 550 km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每点包数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帧时长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3.932 s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导频 7.676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统计口径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SER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nr-grid">
            <a:extLst xmlns:a="http://schemas.openxmlformats.org/drawingml/2006/main">
              <a:ext uri="{FF2B5EF4-FFF2-40B4-BE49-F238E27FC236}">
                <a16:creationId xmlns:a16="http://schemas.microsoft.com/office/drawing/2014/main" id="{A2493CF7-3969-44F9-8BA0-B10D5CAD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SNR 扫描：−30 至 −21 dB，每 1 dB 一点</a:t>
            </a:r>
          </a:p>
        </p:txBody>
      </p:sp>
      <p:sp>
        <p:nvSpPr>
          <p:cNvPr id="4" name="orbit-grid">
            <a:extLst xmlns:a="http://schemas.openxmlformats.org/drawingml/2006/main">
              <a:ext uri="{FF2B5EF4-FFF2-40B4-BE49-F238E27FC236}">
                <a16:creationId xmlns:a16="http://schemas.microsoft.com/office/drawing/2014/main" id="{0447C56C-65E5-4193-BF69-2729A9FB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轨迹：−366、−274.5、−183、−91.5、0 s，Es/N0 = 15 dB</a:t>
            </a:r>
          </a:p>
        </p:txBody>
      </p:sp>
    </p:spTree>
    <p:extLst>
      <p:ext uri="{BB962C8B-B14F-4D97-AF65-F5344CB8AC3E}">
        <p14:creationId xmlns:p14="http://schemas.microsoft.com/office/powerpoint/2010/main" val="109479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35829D-2890-4AF7-9F01-7D72A1B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Case1：Rician 信道 SER–SNR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877C0-027C-47F0-8C23-46412A3A7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727f734274252"/>
          <a:stretch xmlns:a="http://schemas.openxmlformats.org/drawingml/2006/main"/>
        </p:blipFill>
        <p:spPr>
          <a:xfrm xmlns:a="http://schemas.openxmlformats.org/drawingml/2006/main">
            <a:off x="926064" y="1095375"/>
            <a:ext cx="6577497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case1-snr">
            <a:extLst xmlns:a="http://schemas.openxmlformats.org/drawingml/2006/main">
              <a:ext uri="{FF2B5EF4-FFF2-40B4-BE49-F238E27FC236}">
                <a16:creationId xmlns:a16="http://schemas.microsoft.com/office/drawing/2014/main" id="{BA92875A-AF2B-442C-8298-8A6E70BF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−21 dB</a:t>
            </a:r>
          </a:p>
        </p:txBody>
      </p:sp>
      <p:sp>
        <p:nvSpPr>
          <p:cNvPr id="4" name="case1-vp">
            <a:extLst xmlns:a="http://schemas.openxmlformats.org/drawingml/2006/main">
              <a:ext uri="{FF2B5EF4-FFF2-40B4-BE49-F238E27FC236}">
                <a16:creationId xmlns:a16="http://schemas.microsoft.com/office/drawing/2014/main" id="{E9F9D0A9-AFC0-4BED-942D-BB747B95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 3.14×10⁻²</a:t>
            </a:r>
          </a:p>
        </p:txBody>
      </p:sp>
      <p:sp>
        <p:nvSpPr>
          <p:cNvPr id="5" name="case1-theory">
            <a:extLst xmlns:a="http://schemas.openxmlformats.org/drawingml/2006/main">
              <a:ext uri="{FF2B5EF4-FFF2-40B4-BE49-F238E27FC236}">
                <a16:creationId xmlns:a16="http://schemas.microsoft.com/office/drawing/2014/main" id="{2C0F263D-F2A7-47AA-8A80-ED388461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理论  2.85×10⁻²</a:t>
            </a:r>
          </a:p>
        </p:txBody>
      </p:sp>
      <p:sp>
        <p:nvSpPr>
          <p:cNvPr id="6" name="case1-samples">
            <a:extLst xmlns:a="http://schemas.openxmlformats.org/drawingml/2006/main">
              <a:ext uri="{FF2B5EF4-FFF2-40B4-BE49-F238E27FC236}">
                <a16:creationId xmlns:a16="http://schemas.microsoft.com/office/drawing/2014/main" id="{9749C5FA-833E-4A75-BEAB-9136FC52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Rician K = 10 dB</a:t>
            </a:r>
          </a:p>
        </p:txBody>
      </p:sp>
    </p:spTree>
    <p:extLst>
      <p:ext uri="{BB962C8B-B14F-4D97-AF65-F5344CB8AC3E}">
        <p14:creationId xmlns:p14="http://schemas.microsoft.com/office/powerpoint/2010/main" val="1213150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78662-9D99-418C-8F26-10B5FD33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Case2：Rician 信道 SER–SNR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E22A0-1D66-4436-BA86-CB851B012D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6c0d81f6d4759"/>
          <a:stretch xmlns:a="http://schemas.openxmlformats.org/drawingml/2006/main"/>
        </p:blipFill>
        <p:spPr>
          <a:xfrm xmlns:a="http://schemas.openxmlformats.org/drawingml/2006/main">
            <a:off x="926064" y="1095375"/>
            <a:ext cx="6577497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case2-snr">
            <a:extLst xmlns:a="http://schemas.openxmlformats.org/drawingml/2006/main">
              <a:ext uri="{FF2B5EF4-FFF2-40B4-BE49-F238E27FC236}">
                <a16:creationId xmlns:a16="http://schemas.microsoft.com/office/drawing/2014/main" id="{AE807E48-4DC0-4EC9-9E18-ABE87B42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−21 dB</a:t>
            </a:r>
          </a:p>
        </p:txBody>
      </p:sp>
      <p:sp>
        <p:nvSpPr>
          <p:cNvPr id="4" name="case2-vp">
            <a:extLst xmlns:a="http://schemas.openxmlformats.org/drawingml/2006/main">
              <a:ext uri="{FF2B5EF4-FFF2-40B4-BE49-F238E27FC236}">
                <a16:creationId xmlns:a16="http://schemas.microsoft.com/office/drawing/2014/main" id="{951E9D28-FC6E-4DAC-80A8-36F327DE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 2.89×10⁻²</a:t>
            </a:r>
          </a:p>
        </p:txBody>
      </p:sp>
      <p:sp>
        <p:nvSpPr>
          <p:cNvPr id="5" name="case2-prec">
            <a:extLst xmlns:a="http://schemas.openxmlformats.org/drawingml/2006/main">
              <a:ext uri="{FF2B5EF4-FFF2-40B4-BE49-F238E27FC236}">
                <a16:creationId xmlns:a16="http://schemas.microsoft.com/office/drawing/2014/main" id="{02D1F423-5F65-45F8-B44A-B1BA38A5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PREC  0.995</a:t>
            </a:r>
          </a:p>
        </p:txBody>
      </p:sp>
      <p:sp>
        <p:nvSpPr>
          <p:cNvPr id="6" name="case2-samples">
            <a:extLst xmlns:a="http://schemas.openxmlformats.org/drawingml/2006/main">
              <a:ext uri="{FF2B5EF4-FFF2-40B4-BE49-F238E27FC236}">
                <a16:creationId xmlns:a16="http://schemas.microsoft.com/office/drawing/2014/main" id="{7A77C69C-1EF6-4D8E-A591-AA55E594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Rician K = 10 dB</a:t>
            </a:r>
          </a:p>
        </p:txBody>
      </p:sp>
    </p:spTree>
    <p:extLst>
      <p:ext uri="{BB962C8B-B14F-4D97-AF65-F5344CB8AC3E}">
        <p14:creationId xmlns:p14="http://schemas.microsoft.com/office/powerpoint/2010/main" val="541640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779BA2-0B31-4321-BEB1-B8481C79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AWGN 五点轨迹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BAF3C-10AD-49EC-B3C8-72DEBB1B29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f26068550408b"/>
          <a:stretch xmlns:a="http://schemas.openxmlformats.org/drawingml/2006/main"/>
        </p:blipFill>
        <p:spPr>
          <a:xfrm xmlns:a="http://schemas.openxmlformats.org/drawingml/2006/main">
            <a:off x="697865" y="1095375"/>
            <a:ext cx="6976745" cy="5305425"/>
          </a:xfrm>
          <a:prstGeom xmlns:a="http://schemas.openxmlformats.org/drawingml/2006/main" prst="rect">
            <a:avLst/>
          </a:prstGeom>
        </p:spPr>
      </p:pic>
      <p:sp>
        <p:nvSpPr>
          <p:cNvPr id="3" name="awgn-level">
            <a:extLst xmlns:a="http://schemas.openxmlformats.org/drawingml/2006/main">
              <a:ext uri="{FF2B5EF4-FFF2-40B4-BE49-F238E27FC236}">
                <a16:creationId xmlns:a16="http://schemas.microsoft.com/office/drawing/2014/main" id="{EADB0BB7-85EA-4412-B376-399FE9D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240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约 10⁻⁴</a:t>
            </a:r>
          </a:p>
        </p:txBody>
      </p:sp>
      <p:sp>
        <p:nvSpPr>
          <p:cNvPr id="4" name="awgn-ci">
            <a:extLst xmlns:a="http://schemas.openxmlformats.org/drawingml/2006/main">
              <a:ext uri="{FF2B5EF4-FFF2-40B4-BE49-F238E27FC236}">
                <a16:creationId xmlns:a16="http://schemas.microsoft.com/office/drawing/2014/main" id="{A45D7C54-EB33-4897-8973-23FE96B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95625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点态 95% 区间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均包含理论</a:t>
            </a:r>
          </a:p>
        </p:txBody>
      </p:sp>
      <p:sp>
        <p:nvSpPr>
          <p:cNvPr id="5" name="awgn-samples">
            <a:extLst xmlns:a="http://schemas.openxmlformats.org/drawingml/2006/main">
              <a:ext uri="{FF2B5EF4-FFF2-40B4-BE49-F238E27FC236}">
                <a16:creationId xmlns:a16="http://schemas.microsoft.com/office/drawing/2014/main" id="{628B1C55-2301-49A9-8912-7B6123F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0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</p:txBody>
      </p:sp>
    </p:spTree>
    <p:extLst>
      <p:ext uri="{BB962C8B-B14F-4D97-AF65-F5344CB8AC3E}">
        <p14:creationId xmlns:p14="http://schemas.microsoft.com/office/powerpoint/2010/main" val="1371110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4CC870-A278-4F2E-822B-AC3846D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Rician 五点轨迹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F7180-AC62-4377-B711-0CC68CFB9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2eb64a43745db"/>
          <a:stretch xmlns:a="http://schemas.openxmlformats.org/drawingml/2006/main"/>
        </p:blipFill>
        <p:spPr>
          <a:xfrm xmlns:a="http://schemas.openxmlformats.org/drawingml/2006/main">
            <a:off x="1035959" y="1095375"/>
            <a:ext cx="6357706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rician-vp">
            <a:extLst xmlns:a="http://schemas.openxmlformats.org/drawingml/2006/main">
              <a:ext uri="{FF2B5EF4-FFF2-40B4-BE49-F238E27FC236}">
                <a16:creationId xmlns:a16="http://schemas.microsoft.com/office/drawing/2014/main" id="{20AC4FC1-1DC4-4FAE-9B93-7BB4BC83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14550"/>
            <a:ext cx="34194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 0.0313–0.0381</a:t>
            </a:r>
          </a:p>
        </p:txBody>
      </p:sp>
      <p:sp>
        <p:nvSpPr>
          <p:cNvPr id="4" name="rician-theory">
            <a:extLst xmlns:a="http://schemas.openxmlformats.org/drawingml/2006/main">
              <a:ext uri="{FF2B5EF4-FFF2-40B4-BE49-F238E27FC236}">
                <a16:creationId xmlns:a16="http://schemas.microsoft.com/office/drawing/2014/main" id="{AF8445EC-7B71-489D-A692-2AE32EAC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19425"/>
            <a:ext cx="3419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理论  0.03096</a:t>
            </a:r>
          </a:p>
        </p:txBody>
      </p:sp>
      <p:sp>
        <p:nvSpPr>
          <p:cNvPr id="5" name="rician-condition">
            <a:extLst xmlns:a="http://schemas.openxmlformats.org/drawingml/2006/main">
              <a:ext uri="{FF2B5EF4-FFF2-40B4-BE49-F238E27FC236}">
                <a16:creationId xmlns:a16="http://schemas.microsoft.com/office/drawing/2014/main" id="{ED46F670-6F31-4843-B2B3-AA704BC7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38650"/>
            <a:ext cx="34194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K = 10 dB</a:t>
            </a:r>
          </a:p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</p:txBody>
      </p:sp>
    </p:spTree>
    <p:extLst>
      <p:ext uri="{BB962C8B-B14F-4D97-AF65-F5344CB8AC3E}">
        <p14:creationId xmlns:p14="http://schemas.microsoft.com/office/powerpoint/2010/main" val="460102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13F391-13A1-40DC-8B68-0C831EA3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论文即时法与时间对齐变体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896726D-4B91-44ED-B873-EF2984209A90}"/>
              </a:ext>
            </a:extLst>
          </p:cNvPr>
          <p:cNvGraphicFramePr/>
          <p:nvPr/>
        </p:nvGraphicFramePr>
        <p:xfrm>
          <a:off xmlns:a="http://schemas.openxmlformats.org/drawingml/2006/main" x="590550" y="1257300"/>
          <a:ext xmlns:a="http://schemas.openxmlformats.org/drawingml/2006/main" cx="110109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3529b03ec241d2"/>
          </a:graphicData>
        </a:graphic>
      </p:graphicFrame>
      <p:sp>
        <p:nvSpPr>
          <p:cNvPr id="3" name="alignment-improvement">
            <a:extLst xmlns:a="http://schemas.openxmlformats.org/drawingml/2006/main">
              <a:ext uri="{FF2B5EF4-FFF2-40B4-BE49-F238E27FC236}">
                <a16:creationId xmlns:a16="http://schemas.microsoft.com/office/drawing/2014/main" id="{D946A0D3-BF09-4277-A1C3-1491F6CF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0 s：3637 错降至 90 错，约 40.4 倍</a:t>
            </a:r>
          </a:p>
        </p:txBody>
      </p:sp>
      <p:sp>
        <p:nvSpPr>
          <p:cNvPr id="4" name="alignment-low-rate">
            <a:extLst xmlns:a="http://schemas.openxmlformats.org/drawingml/2006/main">
              <a:ext uri="{FF2B5EF4-FFF2-40B4-BE49-F238E27FC236}">
                <a16:creationId xmlns:a16="http://schemas.microsoft.com/office/drawing/2014/main" id="{8A920F24-74DC-473C-BC89-FBE5F897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−366 s：57 错增加至 91 错</a:t>
            </a:r>
          </a:p>
        </p:txBody>
      </p:sp>
    </p:spTree>
    <p:extLst>
      <p:ext uri="{BB962C8B-B14F-4D97-AF65-F5344CB8AC3E}">
        <p14:creationId xmlns:p14="http://schemas.microsoft.com/office/powerpoint/2010/main" val="1456424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3CB332-3D97-439A-81A8-BC0BA5CE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同包错误计数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09EB4CA6-F839-48CC-B0EE-69DE6505F476}"/>
              </a:ext>
            </a:extLst>
          </p:cNvPr>
          <p:cNvGraphicFramePr/>
          <p:nvPr/>
        </p:nvGraphicFramePr>
        <p:xfrm>
          <a:off xmlns:a="http://schemas.openxmlformats.org/drawingml/2006/main" x="609600" y="1257300"/>
          <a:ext xmlns:a="http://schemas.openxmlformats.org/drawingml/2006/main" cx="10972800" cy="3990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c6f590d4c444c2"/>
          </a:graphicData>
        </a:graphic>
      </p:graphicFrame>
      <p:sp>
        <p:nvSpPr>
          <p:cNvPr id="3" name="paired-totals">
            <a:extLst xmlns:a="http://schemas.openxmlformats.org/drawingml/2006/main">
              <a:ext uri="{FF2B5EF4-FFF2-40B4-BE49-F238E27FC236}">
                <a16:creationId xmlns:a16="http://schemas.microsoft.com/office/drawing/2014/main" id="{52E01D1F-D39B-47EE-9631-94F14FFB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VP 共 78 错，同包 Ideal 共 76 错</a:t>
            </a:r>
          </a:p>
        </p:txBody>
      </p:sp>
      <p:sp>
        <p:nvSpPr>
          <p:cNvPr id="4" name="expected-errors">
            <a:extLst xmlns:a="http://schemas.openxmlformats.org/drawingml/2006/main">
              <a:ext uri="{FF2B5EF4-FFF2-40B4-BE49-F238E27FC236}">
                <a16:creationId xmlns:a16="http://schemas.microsoft.com/office/drawing/2014/main" id="{2C7AEDF3-092D-4C6A-9144-907D5C44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每点理论预期约 16.8 错</a:t>
            </a:r>
          </a:p>
        </p:txBody>
      </p:sp>
    </p:spTree>
    <p:extLst>
      <p:ext uri="{BB962C8B-B14F-4D97-AF65-F5344CB8AC3E}">
        <p14:creationId xmlns:p14="http://schemas.microsoft.com/office/powerpoint/2010/main" val="810461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138CF2-2A3F-49FB-A9E5-3E494B40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当前观察与实验边界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3668C-854A-4228-8DEE-308720901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a0909657841bc"/>
          <a:stretch xmlns:a="http://schemas.openxmlformats.org/drawingml/2006/main"/>
        </p:blipFill>
        <p:spPr>
          <a:xfrm xmlns:a="http://schemas.openxmlformats.org/drawingml/2006/main">
            <a:off x="1438607" y="1095375"/>
            <a:ext cx="9314785" cy="4829175"/>
          </a:xfrm>
          <a:prstGeom xmlns:a="http://schemas.openxmlformats.org/drawingml/2006/main" prst="rect">
            <a:avLst/>
          </a:prstGeom>
        </p:spPr>
      </p:pic>
      <p:sp>
        <p:nvSpPr>
          <p:cNvPr id="3" name="summary-boundary">
            <a:extLst xmlns:a="http://schemas.openxmlformats.org/drawingml/2006/main">
              <a:ext uri="{FF2B5EF4-FFF2-40B4-BE49-F238E27FC236}">
                <a16:creationId xmlns:a16="http://schemas.microsoft.com/office/drawing/2014/main" id="{32699D7A-5B34-4ADD-AD70-A40BF6A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时间对齐变体仍高于理论。全轨 Formal 尚未启动</a:t>
            </a:r>
          </a:p>
        </p:txBody>
      </p:sp>
    </p:spTree>
    <p:extLst>
      <p:ext uri="{BB962C8B-B14F-4D97-AF65-F5344CB8AC3E}">
        <p14:creationId xmlns:p14="http://schemas.microsoft.com/office/powerpoint/2010/main" val="1553243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2026-10-06T12:32:14.0690000Z</dcterms:created>
  <dcterms:modified xsi:type="dcterms:W3CDTF">2026-10-06T12:32:14.0690000Z</dcterms:modified>
</coreProperties>
</file>